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2" d="100"/>
          <a:sy n="112" d="100"/>
        </p:scale>
        <p:origin x="8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giây. Dẫn vào đúng job: sinh viên vừa làm sai một câu quiz và phải tự lần ngược về concept, rồi về slide. Dẫn chứng: khảo sát Google Forms trong form.pdf, trang 2, câu 4: 17/31 chọn “Không biết mình thiếu kiến thức nào”, 15/31 chọn “Không biết kiến thức nằm ở đâu trong tài liệu”. Đây là lựa chọn nhiều đáp án, không cộng hai nhóm. Ảnh minh họa được tạo bằng ImageGen.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giây. Bảng impact là đánh giá định tính của nhóm, không phải kết quả so sánh hiệu quả đã đo. Khảo sát form.pdf trang 1 câu 2 và trang 2 câu 4: 16/31 không hiểu giải thích đáp án; 17/31 không biết thiếu kiến thức nào; 15/31 không biết kiến thức nằm ở đâu; 13/31 thấy tài liệu quá dài/nhiều nguồn. Về thị trường: Quizlet Practice Tests tạo câu hỏi từ notes và cho xem lại bài test: https://help.quizlet.com/hc/en-us/articles/25946589648013-Studying-with-Practice-Tests ; Quizlet Write ôn lại câu đã sai: https://help.quizlet.com/hc/en-us/articles/360030990531-Studying-with-Write-mode ; Kahoot! tạo quiz từ PDF và slide: https://support.kahoot.com/hc/en-us/articles/40988856361747-How-to-generate-Kahoot-questions-with-AI và https://support.kahoot.com/hc/en-us/articles/40990737208723-How-to-generate-questions-from-synced-Microsoft-PowerPoint-slides-with-AI ; Wayground AI Answer Explanations và reattempts: https://support.wayground.com/hc/en-us/articles/115000923931-Navigate-Session-Settings . Những tài liệu này không đủ chứng minh các công cụ kia thiếu hoàn toàn liên kết slide hay kiểm tra nền. Điểm mạnh Coldbrew được nêu là khác biệt trong thiết kế đề xuất, chưa có benchmark chứng minh vượt trội về hiệu quả.</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phút. Demo live cần ứng dụng hoặc prototype đang chạy; trong tài liệu được cung cấp chưa có đường dẫn hay ứng dụng để thao tác, nên slide này là kịch bản demo chứ không tuyên bố đã chạy. Case chuẩn: sinh viên sai câu gốc, chọn Thử một ví dụ khác, làm đúng, hệ thống xác định nhầm hoặc áp dụng sai. Case khó: làm sai ví dụ tương tự, sai vòng nền 1 và 2; hệ thống dừng, cho Tổng hợp kiến thức hoặc Ôn tập chuyên sâu, kèm slide nguồn. Sau vòng 1 hoặc 2 nếu đúng, quay lại câu tương đương của concept gốc. Automation: phân loại nguyên nhân sai và tìm mạch kiến thức nền, với giới hạn 2 vòng để giảm cost of error. Nguồn: đặc tả workflow trong yêu cầu của người dùng.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giây. Nói rõ: PDF chỉ là khảo sát nhu cầu, không phải kết quả đánh giá hệ thống. Chưa có quality bar đã chốt trước hạn spec, bộ golden set, tỷ lệ qua test hay failure log. Để điền trang này, khóa tiêu chí trước khi chạy, chuẩn bị các case có nhãn concept và slide nguồn, đo tỷ lệ qua, rồi nêu failure quan trọng nhất cùng nguyên nhân. Không lấy 31–32 phản hồi làm mẫu thử chất lượng sản phẩm.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giây. Hai cụm trong ngoặc kép là phương án trả lời nguyên văn của biểu mẫu, không phải lời nói nguyên văn của từng người. Vì vậy chưa đáp ứng yêu cầu hai quote validation có tên/vai. Cần phỏng vấn hoặc user test, xin phép ghi nhận tên/vai và quote chính xác, cùng thay đổi sản phẩm sau feedback. Nếu nhóm không làm validation, thay slide này bằng kết quả golden set: đạt/không đạt quality bar và vì sao. Số liệu từ form.pdf trang 2 câu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giây. Đây là ưu tiên đề xuất, chưa phải kết quả đã thực hiện. Ưu tiên 1 xử lý khoảng trống đo chất lượng. Ưu tiên 2 tạo quote validation và bắt failure. Ưu tiên 3 xử lý pain có 15/31 người chọn trong khảo sát. Bài học lớn: phải nối chẩn đoán lỗi với bằng chứng trên slide nguồn.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7EF"/>
        </a:solidFill>
        <a:effectLst/>
      </p:bgPr>
    </p:bg>
    <p:spTree>
      <p:nvGrpSpPr>
        <p:cNvPr id="1" name=""/>
        <p:cNvGrpSpPr/>
        <p:nvPr/>
      </p:nvGrpSpPr>
      <p:grpSpPr>
        <a:xfrm>
          <a:off x="0" y="0"/>
          <a:ext cx="0" cy="0"/>
          <a:chOff x="0" y="0"/>
          <a:chExt cx="0" cy="0"/>
        </a:xfrm>
      </p:grpSpPr>
      <p:pic>
        <p:nvPicPr>
          <p:cNvPr id="11" name="Hình ảnh 10"/>
          <p:cNvPicPr>
            <a:picLocks noChangeAspect="1"/>
          </p:cNvPicPr>
          <p:nvPr/>
        </p:nvPicPr>
        <p:blipFill>
          <a:blip r:embed="rId3"/>
          <a:srcRect t="27" b="27"/>
          <a:stretch>
            <a:fillRect/>
          </a:stretch>
        </p:blipFill>
        <p:spPr>
          <a:xfrm>
            <a:off x="0" y="0"/>
            <a:ext cx="12192000" cy="6858000"/>
          </a:xfrm>
          <a:prstGeom prst="rect">
            <a:avLst/>
          </a:prstGeom>
        </p:spPr>
      </p:pic>
      <p:sp>
        <p:nvSpPr>
          <p:cNvPr id="2" name="Hình chữ nhật 1">
            <a:extLst>
              <a:ext uri="{FF2B5EF4-FFF2-40B4-BE49-F238E27FC236}">
                <a16:creationId xmlns:a16="http://schemas.microsoft.com/office/drawing/2014/main" id="{4404AF85-5DB5-4E7F-85E6-881D4D022C78}"/>
              </a:ext>
            </a:extLst>
          </p:cNvPr>
          <p:cNvSpPr>
            <a:spLocks noGrp="1"/>
          </p:cNvSpPr>
          <p:nvPr/>
        </p:nvSpPr>
        <p:spPr>
          <a:xfrm>
            <a:off x="0" y="0"/>
            <a:ext cx="12192000" cy="6858000"/>
          </a:xfrm>
          <a:prstGeom prst="rect">
            <a:avLst/>
          </a:prstGeom>
          <a:solidFill>
            <a:srgbClr val="FCF7EF">
              <a:alpha val="46000"/>
            </a:srgbClr>
          </a:solidFill>
          <a:ln w="0">
            <a:noFill/>
          </a:ln>
        </p:spPr>
        <p:txBody>
          <a:bodyPr/>
          <a:lstStyle/>
          <a:p>
            <a:endParaRPr lang="en-US"/>
          </a:p>
        </p:txBody>
      </p:sp>
      <p:sp>
        <p:nvSpPr>
          <p:cNvPr id="3" name="Hình chữ nhật 2">
            <a:extLst>
              <a:ext uri="{FF2B5EF4-FFF2-40B4-BE49-F238E27FC236}">
                <a16:creationId xmlns:a16="http://schemas.microsoft.com/office/drawing/2014/main" id="{75629775-C576-4424-84BC-EE0487A194A8}"/>
              </a:ext>
            </a:extLst>
          </p:cNvPr>
          <p:cNvSpPr>
            <a:spLocks noGrp="1"/>
          </p:cNvSpPr>
          <p:nvPr/>
        </p:nvSpPr>
        <p:spPr>
          <a:xfrm>
            <a:off x="609600" y="400050"/>
            <a:ext cx="5238750" cy="381000"/>
          </a:xfrm>
          <a:prstGeom prst="rect">
            <a:avLst/>
          </a:prstGeom>
          <a:noFill/>
          <a:ln w="0">
            <a:noFill/>
          </a:ln>
        </p:spPr>
        <p:txBody>
          <a:bodyPr anchor="ctr">
            <a:noAutofit/>
          </a:bodyPr>
          <a:lstStyle/>
          <a:p>
            <a:pPr>
              <a:defRPr sz="1650" b="1">
                <a:solidFill>
                  <a:srgbClr val="216C6D"/>
                </a:solidFill>
                <a:latin typeface="Arial"/>
                <a:ea typeface="Arial"/>
                <a:cs typeface="Arial"/>
              </a:defRPr>
            </a:pPr>
            <a:r>
              <a:rPr sz="1650" b="1">
                <a:solidFill>
                  <a:srgbClr val="216C6D"/>
                </a:solidFill>
                <a:latin typeface="Arial"/>
                <a:ea typeface="Arial"/>
                <a:cs typeface="Arial"/>
              </a:rPr>
              <a:t>COLDBREW QUIZZ</a:t>
            </a:r>
          </a:p>
        </p:txBody>
      </p:sp>
      <p:sp>
        <p:nvSpPr>
          <p:cNvPr id="4" name="Hình chữ nhật 3">
            <a:extLst>
              <a:ext uri="{FF2B5EF4-FFF2-40B4-BE49-F238E27FC236}">
                <a16:creationId xmlns:a16="http://schemas.microsoft.com/office/drawing/2014/main" id="{93175DC9-D0EB-4780-8868-BD17E0320008}"/>
              </a:ext>
            </a:extLst>
          </p:cNvPr>
          <p:cNvSpPr>
            <a:spLocks noGrp="1"/>
          </p:cNvSpPr>
          <p:nvPr/>
        </p:nvSpPr>
        <p:spPr>
          <a:xfrm>
            <a:off x="609600" y="1285875"/>
            <a:ext cx="6667500" cy="1381125"/>
          </a:xfrm>
          <a:prstGeom prst="rect">
            <a:avLst/>
          </a:prstGeom>
          <a:noFill/>
          <a:ln w="0">
            <a:noFill/>
          </a:ln>
        </p:spPr>
        <p:txBody>
          <a:bodyPr anchor="ctr">
            <a:noAutofit/>
          </a:bodyPr>
          <a:lstStyle/>
          <a:p>
            <a:pPr>
              <a:defRPr sz="4125" b="1">
                <a:solidFill>
                  <a:srgbClr val="3A2922"/>
                </a:solidFill>
                <a:latin typeface="Arial"/>
                <a:ea typeface="Arial"/>
                <a:cs typeface="Arial"/>
              </a:defRPr>
            </a:pPr>
            <a:r>
              <a:rPr sz="4125" b="1">
                <a:solidFill>
                  <a:srgbClr val="3A2922"/>
                </a:solidFill>
                <a:latin typeface="Arial"/>
                <a:ea typeface="Arial"/>
                <a:cs typeface="Arial"/>
              </a:rPr>
              <a:t>Sai một câu quiz.</a:t>
            </a:r>
          </a:p>
          <a:p>
            <a:pPr>
              <a:defRPr sz="4125" b="1">
                <a:solidFill>
                  <a:srgbClr val="3A2922"/>
                </a:solidFill>
                <a:latin typeface="Arial"/>
                <a:ea typeface="Arial"/>
                <a:cs typeface="Arial"/>
              </a:defRPr>
            </a:pPr>
            <a:r>
              <a:rPr sz="4125" b="1">
                <a:solidFill>
                  <a:srgbClr val="3A2922"/>
                </a:solidFill>
                <a:latin typeface="Arial"/>
                <a:ea typeface="Arial"/>
                <a:cs typeface="Arial"/>
              </a:rPr>
              <a:t>Học lại ở đâu?</a:t>
            </a:r>
          </a:p>
        </p:txBody>
      </p:sp>
      <p:sp>
        <p:nvSpPr>
          <p:cNvPr id="5" name="Hình chữ nhật 4">
            <a:extLst>
              <a:ext uri="{FF2B5EF4-FFF2-40B4-BE49-F238E27FC236}">
                <a16:creationId xmlns:a16="http://schemas.microsoft.com/office/drawing/2014/main" id="{F9734213-7B8B-4C8D-9CCD-C6972F1D8411}"/>
              </a:ext>
            </a:extLst>
          </p:cNvPr>
          <p:cNvSpPr>
            <a:spLocks noGrp="1"/>
          </p:cNvSpPr>
          <p:nvPr/>
        </p:nvSpPr>
        <p:spPr>
          <a:xfrm>
            <a:off x="609600" y="2990850"/>
            <a:ext cx="6191250" cy="361950"/>
          </a:xfrm>
          <a:prstGeom prst="rect">
            <a:avLst/>
          </a:prstGeom>
          <a:noFill/>
          <a:ln w="0">
            <a:noFill/>
          </a:ln>
        </p:spPr>
        <p:txBody>
          <a:bodyPr anchor="ctr">
            <a:noAutofit/>
          </a:bodyPr>
          <a:lstStyle/>
          <a:p>
            <a:pPr>
              <a:defRPr sz="1575" b="0">
                <a:solidFill>
                  <a:srgbClr val="80533A"/>
                </a:solidFill>
                <a:latin typeface="Arial"/>
                <a:ea typeface="Arial"/>
                <a:cs typeface="Arial"/>
              </a:defRPr>
            </a:pPr>
            <a:r>
              <a:rPr sz="1575" b="0">
                <a:solidFill>
                  <a:srgbClr val="80533A"/>
                </a:solidFill>
                <a:latin typeface="Arial"/>
                <a:ea typeface="Arial"/>
                <a:cs typeface="Arial"/>
              </a:rPr>
              <a:t>Người thực hiện: sinh viên đang ôn từ slide bài giảng</a:t>
            </a:r>
          </a:p>
        </p:txBody>
      </p:sp>
      <p:sp>
        <p:nvSpPr>
          <p:cNvPr id="6" name="Hình chữ nhật 5">
            <a:extLst>
              <a:ext uri="{FF2B5EF4-FFF2-40B4-BE49-F238E27FC236}">
                <a16:creationId xmlns:a16="http://schemas.microsoft.com/office/drawing/2014/main" id="{F81F0DFA-D497-4DD1-A0F4-4EDAC1E2E61C}"/>
              </a:ext>
            </a:extLst>
          </p:cNvPr>
          <p:cNvSpPr>
            <a:spLocks noGrp="1"/>
          </p:cNvSpPr>
          <p:nvPr/>
        </p:nvSpPr>
        <p:spPr>
          <a:xfrm>
            <a:off x="609600" y="3562350"/>
            <a:ext cx="5953125" cy="971550"/>
          </a:xfrm>
          <a:prstGeom prst="rect">
            <a:avLst/>
          </a:prstGeom>
          <a:noFill/>
          <a:ln w="0">
            <a:noFill/>
          </a:ln>
        </p:spPr>
        <p:txBody>
          <a:bodyPr anchor="ctr">
            <a:noAutofit/>
          </a:bodyPr>
          <a:lstStyle/>
          <a:p>
            <a:pPr>
              <a:defRPr sz="2175" b="1">
                <a:solidFill>
                  <a:srgbClr val="3A2922"/>
                </a:solidFill>
                <a:latin typeface="Arial"/>
                <a:ea typeface="Arial"/>
                <a:cs typeface="Arial"/>
              </a:defRPr>
            </a:pPr>
            <a:r>
              <a:rPr sz="2175" b="1">
                <a:solidFill>
                  <a:srgbClr val="3A2922"/>
                </a:solidFill>
                <a:latin typeface="Arial"/>
                <a:ea typeface="Arial"/>
                <a:cs typeface="Arial"/>
              </a:rPr>
              <a:t>Khi trả lời sai, tôi muốn biết mình hổng concept nào và cần quay lại đoạn bài giảng nào để học tiếp.</a:t>
            </a:r>
          </a:p>
        </p:txBody>
      </p:sp>
      <p:sp>
        <p:nvSpPr>
          <p:cNvPr id="7" name="Hình chữ nhật 6">
            <a:extLst>
              <a:ext uri="{FF2B5EF4-FFF2-40B4-BE49-F238E27FC236}">
                <a16:creationId xmlns:a16="http://schemas.microsoft.com/office/drawing/2014/main" id="{9CA6D0A6-9394-419B-B862-0F16AD2384E5}"/>
              </a:ext>
            </a:extLst>
          </p:cNvPr>
          <p:cNvSpPr>
            <a:spLocks noGrp="1"/>
          </p:cNvSpPr>
          <p:nvPr/>
        </p:nvSpPr>
        <p:spPr>
          <a:xfrm>
            <a:off x="609600" y="5010150"/>
            <a:ext cx="2095500" cy="647700"/>
          </a:xfrm>
          <a:prstGeom prst="rect">
            <a:avLst/>
          </a:prstGeom>
          <a:noFill/>
          <a:ln w="0">
            <a:noFill/>
          </a:ln>
        </p:spPr>
        <p:txBody>
          <a:bodyPr anchor="ctr">
            <a:noAutofit/>
          </a:bodyPr>
          <a:lstStyle/>
          <a:p>
            <a:pPr>
              <a:defRPr sz="3975" b="1">
                <a:solidFill>
                  <a:srgbClr val="C16B40"/>
                </a:solidFill>
                <a:latin typeface="Arial"/>
                <a:ea typeface="Arial"/>
                <a:cs typeface="Arial"/>
              </a:defRPr>
            </a:pPr>
            <a:r>
              <a:rPr sz="3975" b="1">
                <a:solidFill>
                  <a:srgbClr val="C16B40"/>
                </a:solidFill>
                <a:latin typeface="Arial"/>
                <a:ea typeface="Arial"/>
                <a:cs typeface="Arial"/>
              </a:rPr>
              <a:t>17/31</a:t>
            </a:r>
          </a:p>
        </p:txBody>
      </p:sp>
      <p:sp>
        <p:nvSpPr>
          <p:cNvPr id="8" name="Hình chữ nhật 7">
            <a:extLst>
              <a:ext uri="{FF2B5EF4-FFF2-40B4-BE49-F238E27FC236}">
                <a16:creationId xmlns:a16="http://schemas.microsoft.com/office/drawing/2014/main" id="{60025C64-48C5-4A1A-98C1-FE593E75E7E6}"/>
              </a:ext>
            </a:extLst>
          </p:cNvPr>
          <p:cNvSpPr>
            <a:spLocks noGrp="1"/>
          </p:cNvSpPr>
          <p:nvPr/>
        </p:nvSpPr>
        <p:spPr>
          <a:xfrm>
            <a:off x="609600" y="5638800"/>
            <a:ext cx="3048000" cy="400050"/>
          </a:xfrm>
          <a:prstGeom prst="rect">
            <a:avLst/>
          </a:prstGeom>
          <a:noFill/>
          <a:ln w="0">
            <a:noFill/>
          </a:ln>
        </p:spPr>
        <p:txBody>
          <a:bodyPr anchor="ctr">
            <a:noAutofit/>
          </a:bodyPr>
          <a:lstStyle/>
          <a:p>
            <a:pPr>
              <a:defRPr sz="1500" b="0">
                <a:solidFill>
                  <a:srgbClr val="3A2922"/>
                </a:solidFill>
                <a:latin typeface="Arial"/>
                <a:ea typeface="Arial"/>
                <a:cs typeface="Arial"/>
              </a:defRPr>
            </a:pPr>
            <a:r>
              <a:rPr sz="1500" b="0">
                <a:solidFill>
                  <a:srgbClr val="3A2922"/>
                </a:solidFill>
                <a:latin typeface="Arial"/>
                <a:ea typeface="Arial"/>
                <a:cs typeface="Arial"/>
              </a:rPr>
              <a:t>không biết mình thiếu kiến thức nào</a:t>
            </a:r>
          </a:p>
        </p:txBody>
      </p:sp>
      <p:sp>
        <p:nvSpPr>
          <p:cNvPr id="9" name="Hình chữ nhật 8">
            <a:extLst>
              <a:ext uri="{FF2B5EF4-FFF2-40B4-BE49-F238E27FC236}">
                <a16:creationId xmlns:a16="http://schemas.microsoft.com/office/drawing/2014/main" id="{ABD0D18F-E97E-4BE3-A06F-920D06652083}"/>
              </a:ext>
            </a:extLst>
          </p:cNvPr>
          <p:cNvSpPr>
            <a:spLocks noGrp="1"/>
          </p:cNvSpPr>
          <p:nvPr/>
        </p:nvSpPr>
        <p:spPr>
          <a:xfrm>
            <a:off x="3867150" y="5010150"/>
            <a:ext cx="1905000" cy="647700"/>
          </a:xfrm>
          <a:prstGeom prst="rect">
            <a:avLst/>
          </a:prstGeom>
          <a:noFill/>
          <a:ln w="0">
            <a:noFill/>
          </a:ln>
        </p:spPr>
        <p:txBody>
          <a:bodyPr anchor="ctr">
            <a:noAutofit/>
          </a:bodyPr>
          <a:lstStyle/>
          <a:p>
            <a:pPr>
              <a:defRPr sz="3975" b="1">
                <a:solidFill>
                  <a:srgbClr val="216C6D"/>
                </a:solidFill>
                <a:latin typeface="Arial"/>
                <a:ea typeface="Arial"/>
                <a:cs typeface="Arial"/>
              </a:defRPr>
            </a:pPr>
            <a:r>
              <a:rPr sz="3975" b="1">
                <a:solidFill>
                  <a:srgbClr val="216C6D"/>
                </a:solidFill>
                <a:latin typeface="Arial"/>
                <a:ea typeface="Arial"/>
                <a:cs typeface="Arial"/>
              </a:rPr>
              <a:t>15/31</a:t>
            </a:r>
          </a:p>
        </p:txBody>
      </p:sp>
      <p:sp>
        <p:nvSpPr>
          <p:cNvPr id="10" name="Hình chữ nhật 9">
            <a:extLst>
              <a:ext uri="{FF2B5EF4-FFF2-40B4-BE49-F238E27FC236}">
                <a16:creationId xmlns:a16="http://schemas.microsoft.com/office/drawing/2014/main" id="{E95558A3-2672-42A0-A6FC-3C9A295452F0}"/>
              </a:ext>
            </a:extLst>
          </p:cNvPr>
          <p:cNvSpPr>
            <a:spLocks noGrp="1"/>
          </p:cNvSpPr>
          <p:nvPr/>
        </p:nvSpPr>
        <p:spPr>
          <a:xfrm>
            <a:off x="3867150" y="5638800"/>
            <a:ext cx="2952750" cy="476250"/>
          </a:xfrm>
          <a:prstGeom prst="rect">
            <a:avLst/>
          </a:prstGeom>
          <a:noFill/>
          <a:ln w="0">
            <a:noFill/>
          </a:ln>
        </p:spPr>
        <p:txBody>
          <a:bodyPr anchor="ctr">
            <a:noAutofit/>
          </a:bodyPr>
          <a:lstStyle/>
          <a:p>
            <a:pPr>
              <a:defRPr sz="1500" b="0">
                <a:solidFill>
                  <a:srgbClr val="3A2922"/>
                </a:solidFill>
                <a:latin typeface="Arial"/>
                <a:ea typeface="Arial"/>
                <a:cs typeface="Arial"/>
              </a:defRPr>
            </a:pPr>
            <a:r>
              <a:rPr sz="1500" b="0">
                <a:solidFill>
                  <a:srgbClr val="3A2922"/>
                </a:solidFill>
                <a:latin typeface="Arial"/>
                <a:ea typeface="Arial"/>
                <a:cs typeface="Arial"/>
              </a:rPr>
              <a:t>không biết kiến thức ở đâu trong tài liệu</a:t>
            </a:r>
          </a:p>
        </p:txBody>
      </p:sp>
    </p:spTree>
    <p:extLst>
      <p:ext uri="{BB962C8B-B14F-4D97-AF65-F5344CB8AC3E}">
        <p14:creationId xmlns:p14="http://schemas.microsoft.com/office/powerpoint/2010/main" val="644668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7EF"/>
        </a:solidFill>
        <a:effectLst/>
      </p:bgPr>
    </p:bg>
    <p:spTree>
      <p:nvGrpSpPr>
        <p:cNvPr id="1" name=""/>
        <p:cNvGrpSpPr/>
        <p:nvPr/>
      </p:nvGrpSpPr>
      <p:grpSpPr>
        <a:xfrm>
          <a:off x="0" y="0"/>
          <a:ext cx="0" cy="0"/>
          <a:chOff x="0" y="0"/>
          <a:chExt cx="0" cy="0"/>
        </a:xfrm>
      </p:grpSpPr>
      <p:pic>
        <p:nvPicPr>
          <p:cNvPr id="12" name="Hình ảnh 11"/>
          <p:cNvPicPr>
            <a:picLocks noChangeAspect="1"/>
          </p:cNvPicPr>
          <p:nvPr/>
        </p:nvPicPr>
        <p:blipFill>
          <a:blip r:embed="rId3"/>
          <a:srcRect t="7813" b="7813"/>
          <a:stretch>
            <a:fillRect/>
          </a:stretch>
        </p:blipFill>
        <p:spPr>
          <a:xfrm>
            <a:off x="0" y="0"/>
            <a:ext cx="12192000" cy="6858000"/>
          </a:xfrm>
          <a:prstGeom prst="rect">
            <a:avLst/>
          </a:prstGeom>
        </p:spPr>
      </p:pic>
      <p:sp>
        <p:nvSpPr>
          <p:cNvPr id="2" name="Hình chữ nhật 1">
            <a:extLst>
              <a:ext uri="{FF2B5EF4-FFF2-40B4-BE49-F238E27FC236}">
                <a16:creationId xmlns:a16="http://schemas.microsoft.com/office/drawing/2014/main" id="{FE96BD73-02B8-4C52-BFA8-4D84689E9656}"/>
              </a:ext>
            </a:extLst>
          </p:cNvPr>
          <p:cNvSpPr>
            <a:spLocks noGrp="1"/>
          </p:cNvSpPr>
          <p:nvPr/>
        </p:nvSpPr>
        <p:spPr>
          <a:xfrm>
            <a:off x="0" y="0"/>
            <a:ext cx="12192000" cy="6858000"/>
          </a:xfrm>
          <a:prstGeom prst="rect">
            <a:avLst/>
          </a:prstGeom>
          <a:solidFill>
            <a:srgbClr val="FCF7EF">
              <a:alpha val="87000"/>
            </a:srgbClr>
          </a:solidFill>
          <a:ln w="0">
            <a:noFill/>
          </a:ln>
        </p:spPr>
        <p:txBody>
          <a:bodyPr/>
          <a:lstStyle/>
          <a:p>
            <a:endParaRPr lang="en-US"/>
          </a:p>
        </p:txBody>
      </p:sp>
      <p:sp>
        <p:nvSpPr>
          <p:cNvPr id="3" name="Hình chữ nhật 2">
            <a:extLst>
              <a:ext uri="{FF2B5EF4-FFF2-40B4-BE49-F238E27FC236}">
                <a16:creationId xmlns:a16="http://schemas.microsoft.com/office/drawing/2014/main" id="{281FC758-21F4-4FF7-BB59-DA0840B564DB}"/>
              </a:ext>
            </a:extLst>
          </p:cNvPr>
          <p:cNvSpPr>
            <a:spLocks noGrp="1"/>
          </p:cNvSpPr>
          <p:nvPr/>
        </p:nvSpPr>
        <p:spPr>
          <a:xfrm>
            <a:off x="533400" y="276225"/>
            <a:ext cx="7143750" cy="238125"/>
          </a:xfrm>
          <a:prstGeom prst="rect">
            <a:avLst/>
          </a:prstGeom>
          <a:noFill/>
          <a:ln w="0">
            <a:noFill/>
          </a:ln>
        </p:spPr>
        <p:txBody>
          <a:bodyPr anchor="ctr">
            <a:noAutofit/>
          </a:bodyPr>
          <a:lstStyle/>
          <a:p>
            <a:pPr>
              <a:defRPr sz="1050" b="1">
                <a:solidFill>
                  <a:srgbClr val="216C6D"/>
                </a:solidFill>
                <a:latin typeface="Arial"/>
                <a:ea typeface="Arial"/>
                <a:cs typeface="Arial"/>
              </a:defRPr>
            </a:pPr>
            <a:r>
              <a:rPr sz="1050" b="1">
                <a:solidFill>
                  <a:srgbClr val="216C6D"/>
                </a:solidFill>
                <a:latin typeface="Arial"/>
                <a:ea typeface="Arial"/>
                <a:cs typeface="Arial"/>
              </a:rPr>
              <a:t>COLDBREW QUIZZ  /  02</a:t>
            </a:r>
          </a:p>
        </p:txBody>
      </p:sp>
      <p:sp>
        <p:nvSpPr>
          <p:cNvPr id="4" name="Hình chữ nhật 3">
            <a:extLst>
              <a:ext uri="{FF2B5EF4-FFF2-40B4-BE49-F238E27FC236}">
                <a16:creationId xmlns:a16="http://schemas.microsoft.com/office/drawing/2014/main" id="{AD29D760-CF59-4A40-B52A-E1B5A4AC88C4}"/>
              </a:ext>
            </a:extLst>
          </p:cNvPr>
          <p:cNvSpPr>
            <a:spLocks noGrp="1"/>
          </p:cNvSpPr>
          <p:nvPr/>
        </p:nvSpPr>
        <p:spPr>
          <a:xfrm>
            <a:off x="533400" y="704850"/>
            <a:ext cx="11125200" cy="666750"/>
          </a:xfrm>
          <a:prstGeom prst="rect">
            <a:avLst/>
          </a:prstGeom>
          <a:noFill/>
          <a:ln w="0">
            <a:noFill/>
          </a:ln>
        </p:spPr>
        <p:txBody>
          <a:bodyPr anchor="ctr">
            <a:noAutofit/>
          </a:bodyPr>
          <a:lstStyle/>
          <a:p>
            <a:pPr>
              <a:defRPr sz="3150" b="1">
                <a:solidFill>
                  <a:srgbClr val="3A2922"/>
                </a:solidFill>
                <a:latin typeface="Arial"/>
                <a:ea typeface="Arial"/>
                <a:cs typeface="Arial"/>
              </a:defRPr>
            </a:pPr>
            <a:r>
              <a:rPr sz="3150" b="1">
                <a:solidFill>
                  <a:srgbClr val="3A2922"/>
                </a:solidFill>
                <a:latin typeface="Arial"/>
                <a:ea typeface="Arial"/>
                <a:cs typeface="Arial"/>
              </a:rPr>
              <a:t>Vì sao chọn chỉ đúng chỗ cần học?</a:t>
            </a:r>
          </a:p>
        </p:txBody>
      </p:sp>
      <p:sp>
        <p:nvSpPr>
          <p:cNvPr id="5" name="Hình chữ nhật 4">
            <a:extLst>
              <a:ext uri="{FF2B5EF4-FFF2-40B4-BE49-F238E27FC236}">
                <a16:creationId xmlns:a16="http://schemas.microsoft.com/office/drawing/2014/main" id="{3209F199-7448-416E-B497-BEE1AE60D6B1}"/>
              </a:ext>
            </a:extLst>
          </p:cNvPr>
          <p:cNvSpPr>
            <a:spLocks noGrp="1"/>
          </p:cNvSpPr>
          <p:nvPr/>
        </p:nvSpPr>
        <p:spPr>
          <a:xfrm>
            <a:off x="533400" y="1409700"/>
            <a:ext cx="11125200" cy="19050"/>
          </a:xfrm>
          <a:prstGeom prst="rect">
            <a:avLst/>
          </a:prstGeom>
          <a:solidFill>
            <a:srgbClr val="D9CABE"/>
          </a:solidFill>
          <a:ln w="0">
            <a:noFill/>
          </a:ln>
        </p:spPr>
        <p:txBody>
          <a:bodyPr/>
          <a:lstStyle/>
          <a:p>
            <a:endParaRPr lang="en-US"/>
          </a:p>
        </p:txBody>
      </p:sp>
      <p:sp>
        <p:nvSpPr>
          <p:cNvPr id="6" name="Hình chữ nhật 5">
            <a:extLst>
              <a:ext uri="{FF2B5EF4-FFF2-40B4-BE49-F238E27FC236}">
                <a16:creationId xmlns:a16="http://schemas.microsoft.com/office/drawing/2014/main" id="{E7E6BE59-81FE-47CE-AC28-9DB98B89196A}"/>
              </a:ext>
            </a:extLst>
          </p:cNvPr>
          <p:cNvSpPr>
            <a:spLocks noGrp="1"/>
          </p:cNvSpPr>
          <p:nvPr/>
        </p:nvSpPr>
        <p:spPr>
          <a:xfrm>
            <a:off x="10934700" y="6353175"/>
            <a:ext cx="762000" cy="238125"/>
          </a:xfrm>
          <a:prstGeom prst="rect">
            <a:avLst/>
          </a:prstGeom>
          <a:noFill/>
          <a:ln w="0">
            <a:noFill/>
          </a:ln>
        </p:spPr>
        <p:txBody>
          <a:bodyPr anchor="ctr">
            <a:noAutofit/>
          </a:bodyPr>
          <a:lstStyle/>
          <a:p>
            <a:pPr>
              <a:defRPr sz="1050" b="1">
                <a:solidFill>
                  <a:srgbClr val="C16B40"/>
                </a:solidFill>
                <a:latin typeface="Arial"/>
                <a:ea typeface="Arial"/>
                <a:cs typeface="Arial"/>
              </a:defRPr>
            </a:pPr>
            <a:r>
              <a:rPr sz="1050" b="1">
                <a:solidFill>
                  <a:srgbClr val="C16B40"/>
                </a:solidFill>
                <a:latin typeface="Arial"/>
                <a:ea typeface="Arial"/>
                <a:cs typeface="Arial"/>
              </a:rPr>
              <a:t>45″</a:t>
            </a:r>
          </a:p>
        </p:txBody>
      </p:sp>
      <p:sp>
        <p:nvSpPr>
          <p:cNvPr id="7" name="Hình chữ nhật 6">
            <a:extLst>
              <a:ext uri="{FF2B5EF4-FFF2-40B4-BE49-F238E27FC236}">
                <a16:creationId xmlns:a16="http://schemas.microsoft.com/office/drawing/2014/main" id="{01C58FCD-CF13-458A-B31C-85EC7004EA51}"/>
              </a:ext>
            </a:extLst>
          </p:cNvPr>
          <p:cNvSpPr>
            <a:spLocks noGrp="1"/>
          </p:cNvSpPr>
          <p:nvPr/>
        </p:nvSpPr>
        <p:spPr>
          <a:xfrm>
            <a:off x="533400" y="1628775"/>
            <a:ext cx="10668000" cy="323850"/>
          </a:xfrm>
          <a:prstGeom prst="rect">
            <a:avLst/>
          </a:prstGeom>
          <a:noFill/>
          <a:ln w="0">
            <a:noFill/>
          </a:ln>
        </p:spPr>
        <p:txBody>
          <a:bodyPr anchor="ctr">
            <a:noAutofit/>
          </a:bodyPr>
          <a:lstStyle/>
          <a:p>
            <a:pPr>
              <a:defRPr sz="1875" b="0">
                <a:solidFill>
                  <a:srgbClr val="80533A"/>
                </a:solidFill>
                <a:latin typeface="Arial"/>
                <a:ea typeface="Arial"/>
                <a:cs typeface="Arial"/>
              </a:defRPr>
            </a:pPr>
            <a:r>
              <a:rPr sz="1875" b="0">
                <a:solidFill>
                  <a:srgbClr val="80533A"/>
                </a:solidFill>
                <a:latin typeface="Arial"/>
                <a:ea typeface="Arial"/>
                <a:cs typeface="Arial"/>
              </a:rPr>
              <a:t>Ba hướng giải quyết cùng một lúc sinh viên làm sai</a:t>
            </a:r>
          </a:p>
        </p:txBody>
      </p:sp>
      <p:graphicFrame>
        <p:nvGraphicFramePr>
          <p:cNvPr id="19" name="Bảng 18"/>
          <p:cNvGraphicFramePr/>
          <p:nvPr/>
        </p:nvGraphicFramePr>
        <p:xfrm>
          <a:off x="533400" y="2114550"/>
          <a:ext cx="11125200" cy="2333625"/>
        </p:xfrm>
        <a:graphic>
          <a:graphicData uri="http://schemas.openxmlformats.org/drawingml/2006/table">
            <a:tbl>
              <a:tblPr firstRow="1"/>
              <a:tblGrid>
                <a:gridCol w="31623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gridCol w="4686300">
                  <a:extLst>
                    <a:ext uri="{9D8B030D-6E8A-4147-A177-3AD203B41FA5}">
                      <a16:colId xmlns:a16="http://schemas.microsoft.com/office/drawing/2014/main" val="20002"/>
                    </a:ext>
                  </a:extLst>
                </a:gridCol>
              </a:tblGrid>
              <a:tr h="583406">
                <a:tc>
                  <a:txBody>
                    <a:bodyPr/>
                    <a:lstStyle/>
                    <a:p>
                      <a:r>
                        <a:rPr sz="1425" b="1">
                          <a:solidFill>
                            <a:srgbClr val="FFFFFF"/>
                          </a:solidFill>
                        </a:rPr>
                        <a:t>Ứng viên</a:t>
                      </a:r>
                    </a:p>
                  </a:txBody>
                  <a:tcPr marL="123825" marR="114300" marT="47625" marB="47625">
                    <a:solidFill>
                      <a:srgbClr val="80533A"/>
                    </a:solidFill>
                  </a:tcPr>
                </a:tc>
                <a:tc>
                  <a:txBody>
                    <a:bodyPr/>
                    <a:lstStyle/>
                    <a:p>
                      <a:r>
                        <a:rPr sz="1425" b="1">
                          <a:solidFill>
                            <a:srgbClr val="FFFFFF"/>
                          </a:solidFill>
                        </a:rPr>
                        <a:t>Tín hiệu khảo sát</a:t>
                      </a:r>
                    </a:p>
                  </a:txBody>
                  <a:tcPr marL="123825" marR="114300" marT="47625" marB="47625">
                    <a:solidFill>
                      <a:srgbClr val="80533A"/>
                    </a:solidFill>
                  </a:tcPr>
                </a:tc>
                <a:tc>
                  <a:txBody>
                    <a:bodyPr/>
                    <a:lstStyle/>
                    <a:p>
                      <a:r>
                        <a:rPr sz="1425" b="1">
                          <a:solidFill>
                            <a:srgbClr val="FFFFFF"/>
                          </a:solidFill>
                        </a:rPr>
                        <a:t>Quyết định</a:t>
                      </a:r>
                    </a:p>
                  </a:txBody>
                  <a:tcPr marL="123825" marR="114300" marT="47625" marB="47625">
                    <a:solidFill>
                      <a:srgbClr val="80533A"/>
                    </a:solidFill>
                  </a:tcPr>
                </a:tc>
                <a:extLst>
                  <a:ext uri="{0D108BD9-81ED-4DB2-BD59-A6C34878D82A}">
                    <a16:rowId xmlns:a16="http://schemas.microsoft.com/office/drawing/2014/main" val="10000"/>
                  </a:ext>
                </a:extLst>
              </a:tr>
              <a:tr h="583406">
                <a:tc>
                  <a:txBody>
                    <a:bodyPr/>
                    <a:lstStyle/>
                    <a:p>
                      <a:r>
                        <a:rPr sz="1275">
                          <a:solidFill>
                            <a:srgbClr val="3A2922"/>
                          </a:solidFill>
                        </a:rPr>
                        <a:t>Giải thích đáp án kỹ hơn</a:t>
                      </a:r>
                    </a:p>
                  </a:txBody>
                  <a:tcPr marL="123825" marR="114300" marT="47625" marB="47625">
                    <a:solidFill>
                      <a:srgbClr val="FFFFFF"/>
                    </a:solidFill>
                  </a:tcPr>
                </a:tc>
                <a:tc>
                  <a:txBody>
                    <a:bodyPr/>
                    <a:lstStyle/>
                    <a:p>
                      <a:r>
                        <a:rPr sz="1275">
                          <a:solidFill>
                            <a:srgbClr val="3A2922"/>
                          </a:solidFill>
                        </a:rPr>
                        <a:t>16/31 khó hiểu phần giải thích</a:t>
                      </a:r>
                    </a:p>
                  </a:txBody>
                  <a:tcPr marL="123825" marR="114300" marT="47625" marB="47625">
                    <a:solidFill>
                      <a:srgbClr val="FFFFFF"/>
                    </a:solidFill>
                  </a:tcPr>
                </a:tc>
                <a:tc>
                  <a:txBody>
                    <a:bodyPr/>
                    <a:lstStyle/>
                    <a:p>
                      <a:r>
                        <a:rPr sz="1275">
                          <a:solidFill>
                            <a:srgbClr val="3A2922"/>
                          </a:solidFill>
                        </a:rPr>
                        <a:t>Chỉ giải thích câu sai; chưa chỉ vị trí học lại</a:t>
                      </a:r>
                    </a:p>
                  </a:txBody>
                  <a:tcPr marL="123825" marR="114300" marT="47625" marB="47625">
                    <a:solidFill>
                      <a:srgbClr val="FFFFFF"/>
                    </a:solidFill>
                  </a:tcPr>
                </a:tc>
                <a:extLst>
                  <a:ext uri="{0D108BD9-81ED-4DB2-BD59-A6C34878D82A}">
                    <a16:rowId xmlns:a16="http://schemas.microsoft.com/office/drawing/2014/main" val="10001"/>
                  </a:ext>
                </a:extLst>
              </a:tr>
              <a:tr h="583406">
                <a:tc>
                  <a:txBody>
                    <a:bodyPr/>
                    <a:lstStyle/>
                    <a:p>
                      <a:r>
                        <a:rPr sz="1275" b="1">
                          <a:solidFill>
                            <a:srgbClr val="3A2922"/>
                          </a:solidFill>
                        </a:rPr>
                        <a:t>Chỉ concept yếu + đoạn bài giảng</a:t>
                      </a:r>
                    </a:p>
                  </a:txBody>
                  <a:tcPr marL="123825" marR="114300" marT="47625" marB="47625">
                    <a:solidFill>
                      <a:srgbClr val="E9F1ED"/>
                    </a:solidFill>
                  </a:tcPr>
                </a:tc>
                <a:tc>
                  <a:txBody>
                    <a:bodyPr/>
                    <a:lstStyle/>
                    <a:p>
                      <a:r>
                        <a:rPr sz="1275" b="1">
                          <a:solidFill>
                            <a:srgbClr val="3A2922"/>
                          </a:solidFill>
                        </a:rPr>
                        <a:t>17/31 không biết thiếu gì; 15/31 không biết ở đâu</a:t>
                      </a:r>
                    </a:p>
                  </a:txBody>
                  <a:tcPr marL="123825" marR="114300" marT="47625" marB="47625">
                    <a:solidFill>
                      <a:srgbClr val="E9F1ED"/>
                    </a:solidFill>
                  </a:tcPr>
                </a:tc>
                <a:tc>
                  <a:txBody>
                    <a:bodyPr/>
                    <a:lstStyle/>
                    <a:p>
                      <a:r>
                        <a:rPr sz="1275" b="1">
                          <a:solidFill>
                            <a:srgbClr val="3A2922"/>
                          </a:solidFill>
                        </a:rPr>
                        <a:t>CHỌN: chạm đúng hai trở ngại chính</a:t>
                      </a:r>
                    </a:p>
                  </a:txBody>
                  <a:tcPr marL="123825" marR="114300" marT="47625" marB="47625">
                    <a:solidFill>
                      <a:srgbClr val="E9F1ED"/>
                    </a:solidFill>
                  </a:tcPr>
                </a:tc>
                <a:extLst>
                  <a:ext uri="{0D108BD9-81ED-4DB2-BD59-A6C34878D82A}">
                    <a16:rowId xmlns:a16="http://schemas.microsoft.com/office/drawing/2014/main" val="10002"/>
                  </a:ext>
                </a:extLst>
              </a:tr>
              <a:tr h="583406">
                <a:tc>
                  <a:txBody>
                    <a:bodyPr/>
                    <a:lstStyle/>
                    <a:p>
                      <a:r>
                        <a:rPr sz="1275">
                          <a:solidFill>
                            <a:srgbClr val="3A2922"/>
                          </a:solidFill>
                        </a:rPr>
                        <a:t>Tóm tắt toàn bộ tài liệu</a:t>
                      </a:r>
                    </a:p>
                  </a:txBody>
                  <a:tcPr marL="123825" marR="114300" marT="47625" marB="47625">
                    <a:solidFill>
                      <a:srgbClr val="FFFFFF"/>
                    </a:solidFill>
                  </a:tcPr>
                </a:tc>
                <a:tc>
                  <a:txBody>
                    <a:bodyPr/>
                    <a:lstStyle/>
                    <a:p>
                      <a:r>
                        <a:rPr sz="1275">
                          <a:solidFill>
                            <a:srgbClr val="3A2922"/>
                          </a:solidFill>
                        </a:rPr>
                        <a:t>13/31 thấy tài liệu dài hoặc nhiều nguồn</a:t>
                      </a:r>
                    </a:p>
                  </a:txBody>
                  <a:tcPr marL="123825" marR="114300" marT="47625" marB="47625">
                    <a:solidFill>
                      <a:srgbClr val="FFFFFF"/>
                    </a:solidFill>
                  </a:tcPr>
                </a:tc>
                <a:tc>
                  <a:txBody>
                    <a:bodyPr/>
                    <a:lstStyle/>
                    <a:p>
                      <a:r>
                        <a:rPr sz="1275">
                          <a:solidFill>
                            <a:srgbClr val="3A2922"/>
                          </a:solidFill>
                        </a:rPr>
                        <a:t>LOẠI: phạm vi rộng, chưa gắn với lỗi vừa xảy ra</a:t>
                      </a:r>
                    </a:p>
                  </a:txBody>
                  <a:tcPr marL="123825" marR="114300" marT="47625" marB="47625">
                    <a:solidFill>
                      <a:srgbClr val="FFFFFF"/>
                    </a:solidFill>
                  </a:tcPr>
                </a:tc>
                <a:extLst>
                  <a:ext uri="{0D108BD9-81ED-4DB2-BD59-A6C34878D82A}">
                    <a16:rowId xmlns:a16="http://schemas.microsoft.com/office/drawing/2014/main" val="10003"/>
                  </a:ext>
                </a:extLst>
              </a:tr>
            </a:tbl>
          </a:graphicData>
        </a:graphic>
      </p:graphicFrame>
      <p:sp>
        <p:nvSpPr>
          <p:cNvPr id="9" name="Hình chữ nhật 8">
            <a:extLst>
              <a:ext uri="{FF2B5EF4-FFF2-40B4-BE49-F238E27FC236}">
                <a16:creationId xmlns:a16="http://schemas.microsoft.com/office/drawing/2014/main" id="{2C199323-BE98-496E-B793-C67E42730449}"/>
              </a:ext>
            </a:extLst>
          </p:cNvPr>
          <p:cNvSpPr>
            <a:spLocks noGrp="1"/>
          </p:cNvSpPr>
          <p:nvPr/>
        </p:nvSpPr>
        <p:spPr>
          <a:xfrm>
            <a:off x="533400" y="4667250"/>
            <a:ext cx="10668000" cy="285750"/>
          </a:xfrm>
          <a:prstGeom prst="rect">
            <a:avLst/>
          </a:prstGeom>
          <a:noFill/>
          <a:ln w="0">
            <a:noFill/>
          </a:ln>
        </p:spPr>
        <p:txBody>
          <a:bodyPr anchor="ctr">
            <a:noAutofit/>
          </a:bodyPr>
          <a:lstStyle/>
          <a:p>
            <a:pPr>
              <a:defRPr sz="1275" b="1">
                <a:solidFill>
                  <a:srgbClr val="216C6D"/>
                </a:solidFill>
                <a:latin typeface="Arial"/>
                <a:ea typeface="Arial"/>
                <a:cs typeface="Arial"/>
              </a:defRPr>
            </a:pPr>
            <a:r>
              <a:rPr sz="1275" b="1">
                <a:solidFill>
                  <a:srgbClr val="216C6D"/>
                </a:solidFill>
                <a:latin typeface="Arial"/>
                <a:ea typeface="Arial"/>
                <a:cs typeface="Arial"/>
              </a:rPr>
              <a:t>SO VỚI CÔNG CỤ QUIZ TRÊN THỊ TRƯỜNG</a:t>
            </a:r>
          </a:p>
        </p:txBody>
      </p:sp>
      <p:sp>
        <p:nvSpPr>
          <p:cNvPr id="10" name="Hình chữ nhật 9">
            <a:extLst>
              <a:ext uri="{FF2B5EF4-FFF2-40B4-BE49-F238E27FC236}">
                <a16:creationId xmlns:a16="http://schemas.microsoft.com/office/drawing/2014/main" id="{6BDD47FD-FE95-49B0-B65B-EA111E857BAF}"/>
              </a:ext>
            </a:extLst>
          </p:cNvPr>
          <p:cNvSpPr>
            <a:spLocks noGrp="1"/>
          </p:cNvSpPr>
          <p:nvPr/>
        </p:nvSpPr>
        <p:spPr>
          <a:xfrm>
            <a:off x="533400" y="5019675"/>
            <a:ext cx="11049000" cy="523875"/>
          </a:xfrm>
          <a:prstGeom prst="rect">
            <a:avLst/>
          </a:prstGeom>
          <a:noFill/>
          <a:ln w="0">
            <a:noFill/>
          </a:ln>
        </p:spPr>
        <p:txBody>
          <a:bodyPr anchor="ctr">
            <a:noAutofit/>
          </a:bodyPr>
          <a:lstStyle/>
          <a:p>
            <a:pPr>
              <a:defRPr sz="1425" b="0">
                <a:solidFill>
                  <a:srgbClr val="75675C"/>
                </a:solidFill>
                <a:latin typeface="Arial"/>
                <a:ea typeface="Arial"/>
                <a:cs typeface="Arial"/>
              </a:defRPr>
            </a:pPr>
            <a:r>
              <a:rPr sz="1425" b="0">
                <a:solidFill>
                  <a:srgbClr val="75675C"/>
                </a:solidFill>
                <a:latin typeface="Arial"/>
                <a:ea typeface="Arial"/>
                <a:cs typeface="Arial"/>
              </a:rPr>
              <a:t>Quizlet: practice test từ notes, ôn câu sai. Kahoot!: tạo quiz từ PDF/slide. Wayground: giải thích câu sai và cho làm lại.</a:t>
            </a:r>
          </a:p>
        </p:txBody>
      </p:sp>
      <p:sp>
        <p:nvSpPr>
          <p:cNvPr id="11" name="Hình chữ nhật 10">
            <a:extLst>
              <a:ext uri="{FF2B5EF4-FFF2-40B4-BE49-F238E27FC236}">
                <a16:creationId xmlns:a16="http://schemas.microsoft.com/office/drawing/2014/main" id="{75F45763-5677-4046-8D0F-2CBBF9910C8D}"/>
              </a:ext>
            </a:extLst>
          </p:cNvPr>
          <p:cNvSpPr>
            <a:spLocks noGrp="1"/>
          </p:cNvSpPr>
          <p:nvPr/>
        </p:nvSpPr>
        <p:spPr>
          <a:xfrm>
            <a:off x="533400" y="5657850"/>
            <a:ext cx="11049000" cy="476250"/>
          </a:xfrm>
          <a:prstGeom prst="rect">
            <a:avLst/>
          </a:prstGeom>
          <a:noFill/>
          <a:ln w="0">
            <a:noFill/>
          </a:ln>
        </p:spPr>
        <p:txBody>
          <a:bodyPr anchor="ctr">
            <a:noAutofit/>
          </a:bodyPr>
          <a:lstStyle/>
          <a:p>
            <a:pPr>
              <a:defRPr sz="1575" b="1">
                <a:solidFill>
                  <a:srgbClr val="80533A"/>
                </a:solidFill>
                <a:latin typeface="Arial"/>
                <a:ea typeface="Arial"/>
                <a:cs typeface="Arial"/>
              </a:defRPr>
            </a:pPr>
            <a:r>
              <a:rPr sz="1575" b="1">
                <a:solidFill>
                  <a:srgbClr val="80533A"/>
                </a:solidFill>
                <a:latin typeface="Arial"/>
                <a:ea typeface="Arial"/>
                <a:cs typeface="Arial"/>
              </a:rPr>
              <a:t>Điểm mạnh Coldbrew: AI soạn đề kiểm tra nền riêng theo từng vòng, leo cây tối đa 3 vòng, rồi dẫn về đúng đoạn bài giảng đọc được nguyên văn.</a:t>
            </a:r>
          </a:p>
        </p:txBody>
      </p:sp>
    </p:spTree>
    <p:extLst>
      <p:ext uri="{BB962C8B-B14F-4D97-AF65-F5344CB8AC3E}">
        <p14:creationId xmlns:p14="http://schemas.microsoft.com/office/powerpoint/2010/main" val="787320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7EF"/>
        </a:solidFill>
        <a:effectLst/>
      </p:bgPr>
    </p:bg>
    <p:spTree>
      <p:nvGrpSpPr>
        <p:cNvPr id="1" name=""/>
        <p:cNvGrpSpPr/>
        <p:nvPr/>
      </p:nvGrpSpPr>
      <p:grpSpPr>
        <a:xfrm>
          <a:off x="0" y="0"/>
          <a:ext cx="0" cy="0"/>
          <a:chOff x="0" y="0"/>
          <a:chExt cx="0" cy="0"/>
        </a:xfrm>
      </p:grpSpPr>
      <p:sp>
        <p:nvSpPr>
          <p:cNvPr id="15" name="Hình chữ nhật 14">
            <a:extLst>
              <a:ext uri="{FF2B5EF4-FFF2-40B4-BE49-F238E27FC236}">
                <a16:creationId xmlns:a16="http://schemas.microsoft.com/office/drawing/2014/main" id="{498DF3A0-86AC-4308-9011-5799C820740E}"/>
              </a:ext>
            </a:extLst>
          </p:cNvPr>
          <p:cNvSpPr>
            <a:spLocks noGrp="1"/>
          </p:cNvSpPr>
          <p:nvPr/>
        </p:nvSpPr>
        <p:spPr>
          <a:xfrm>
            <a:off x="533400" y="276225"/>
            <a:ext cx="7143750" cy="238125"/>
          </a:xfrm>
          <a:prstGeom prst="rect">
            <a:avLst/>
          </a:prstGeom>
          <a:noFill/>
          <a:ln w="0">
            <a:noFill/>
          </a:ln>
        </p:spPr>
        <p:txBody>
          <a:bodyPr anchor="ctr">
            <a:noAutofit/>
          </a:bodyPr>
          <a:lstStyle/>
          <a:p>
            <a:pPr>
              <a:defRPr sz="1050" b="1">
                <a:solidFill>
                  <a:srgbClr val="216C6D"/>
                </a:solidFill>
                <a:latin typeface="Arial"/>
                <a:ea typeface="Arial"/>
                <a:cs typeface="Arial"/>
              </a:defRPr>
            </a:pPr>
            <a:r>
              <a:rPr sz="1050" b="1">
                <a:solidFill>
                  <a:srgbClr val="216C6D"/>
                </a:solidFill>
                <a:latin typeface="Arial"/>
                <a:ea typeface="Arial"/>
                <a:cs typeface="Arial"/>
              </a:rPr>
              <a:t>COLDBREW QUIZZ  /  03</a:t>
            </a:r>
          </a:p>
        </p:txBody>
      </p:sp>
      <p:sp>
        <p:nvSpPr>
          <p:cNvPr id="2" name="Hình chữ nhật 1">
            <a:extLst>
              <a:ext uri="{FF2B5EF4-FFF2-40B4-BE49-F238E27FC236}">
                <a16:creationId xmlns:a16="http://schemas.microsoft.com/office/drawing/2014/main" id="{321E58EF-F4B5-4232-A68B-A7CCE5E00316}"/>
              </a:ext>
            </a:extLst>
          </p:cNvPr>
          <p:cNvSpPr>
            <a:spLocks noGrp="1"/>
          </p:cNvSpPr>
          <p:nvPr/>
        </p:nvSpPr>
        <p:spPr>
          <a:xfrm>
            <a:off x="533400" y="704850"/>
            <a:ext cx="11125200" cy="666750"/>
          </a:xfrm>
          <a:prstGeom prst="rect">
            <a:avLst/>
          </a:prstGeom>
          <a:noFill/>
          <a:ln w="0">
            <a:noFill/>
          </a:ln>
        </p:spPr>
        <p:txBody>
          <a:bodyPr anchor="ctr">
            <a:noAutofit/>
          </a:bodyPr>
          <a:lstStyle/>
          <a:p>
            <a:pPr>
              <a:defRPr sz="3150" b="1">
                <a:solidFill>
                  <a:srgbClr val="3A2922"/>
                </a:solidFill>
                <a:latin typeface="Arial"/>
                <a:ea typeface="Arial"/>
                <a:cs typeface="Arial"/>
              </a:defRPr>
            </a:pPr>
            <a:r>
              <a:rPr sz="3150" b="1">
                <a:solidFill>
                  <a:srgbClr val="3A2922"/>
                </a:solidFill>
                <a:latin typeface="Arial"/>
                <a:ea typeface="Arial"/>
                <a:cs typeface="Arial"/>
              </a:rPr>
              <a:t>Giải pháp và demo trực tiếp</a:t>
            </a:r>
          </a:p>
        </p:txBody>
      </p:sp>
      <p:sp>
        <p:nvSpPr>
          <p:cNvPr id="3" name="Hình chữ nhật 2">
            <a:extLst>
              <a:ext uri="{FF2B5EF4-FFF2-40B4-BE49-F238E27FC236}">
                <a16:creationId xmlns:a16="http://schemas.microsoft.com/office/drawing/2014/main" id="{8421FFD4-C387-4EF8-8DA8-24A2D2226D55}"/>
              </a:ext>
            </a:extLst>
          </p:cNvPr>
          <p:cNvSpPr>
            <a:spLocks noGrp="1"/>
          </p:cNvSpPr>
          <p:nvPr/>
        </p:nvSpPr>
        <p:spPr>
          <a:xfrm>
            <a:off x="533400" y="1409700"/>
            <a:ext cx="11125200" cy="19050"/>
          </a:xfrm>
          <a:prstGeom prst="rect">
            <a:avLst/>
          </a:prstGeom>
          <a:solidFill>
            <a:srgbClr val="D9CABE"/>
          </a:solidFill>
          <a:ln w="0">
            <a:noFill/>
          </a:ln>
        </p:spPr>
        <p:txBody>
          <a:bodyPr/>
          <a:lstStyle/>
          <a:p>
            <a:endParaRPr lang="en-US"/>
          </a:p>
        </p:txBody>
      </p:sp>
      <p:pic>
        <p:nvPicPr>
          <p:cNvPr id="18" name="Hình ảnh 17"/>
          <p:cNvPicPr>
            <a:picLocks noChangeAspect="1"/>
          </p:cNvPicPr>
          <p:nvPr/>
        </p:nvPicPr>
        <p:blipFill>
          <a:blip r:embed="rId3"/>
          <a:srcRect t="9946" b="9946"/>
          <a:stretch>
            <a:fillRect/>
          </a:stretch>
        </p:blipFill>
        <p:spPr>
          <a:xfrm>
            <a:off x="8667750" y="0"/>
            <a:ext cx="3524250" cy="2352675"/>
          </a:xfrm>
          <a:prstGeom prst="rect">
            <a:avLst/>
          </a:prstGeom>
        </p:spPr>
      </p:pic>
      <p:sp>
        <p:nvSpPr>
          <p:cNvPr id="5" name="Hình chữ nhật 4">
            <a:extLst>
              <a:ext uri="{FF2B5EF4-FFF2-40B4-BE49-F238E27FC236}">
                <a16:creationId xmlns:a16="http://schemas.microsoft.com/office/drawing/2014/main" id="{C825E0C7-3229-44D1-89CC-D7117959EE76}"/>
              </a:ext>
            </a:extLst>
          </p:cNvPr>
          <p:cNvSpPr>
            <a:spLocks noGrp="1"/>
          </p:cNvSpPr>
          <p:nvPr/>
        </p:nvSpPr>
        <p:spPr>
          <a:xfrm>
            <a:off x="10934700" y="6353175"/>
            <a:ext cx="762000" cy="238125"/>
          </a:xfrm>
          <a:prstGeom prst="rect">
            <a:avLst/>
          </a:prstGeom>
          <a:noFill/>
          <a:ln w="0">
            <a:noFill/>
          </a:ln>
        </p:spPr>
        <p:txBody>
          <a:bodyPr anchor="ctr">
            <a:noAutofit/>
          </a:bodyPr>
          <a:lstStyle/>
          <a:p>
            <a:pPr>
              <a:defRPr sz="1050" b="1">
                <a:solidFill>
                  <a:srgbClr val="C16B40"/>
                </a:solidFill>
                <a:latin typeface="Arial"/>
                <a:ea typeface="Arial"/>
                <a:cs typeface="Arial"/>
              </a:defRPr>
            </a:pPr>
            <a:r>
              <a:rPr sz="1050" b="1">
                <a:solidFill>
                  <a:srgbClr val="C16B40"/>
                </a:solidFill>
                <a:latin typeface="Arial"/>
                <a:ea typeface="Arial"/>
                <a:cs typeface="Arial"/>
              </a:rPr>
              <a:t>2′</a:t>
            </a:r>
          </a:p>
        </p:txBody>
      </p:sp>
      <p:sp>
        <p:nvSpPr>
          <p:cNvPr id="6" name="Hình chữ nhật 5">
            <a:extLst>
              <a:ext uri="{FF2B5EF4-FFF2-40B4-BE49-F238E27FC236}">
                <a16:creationId xmlns:a16="http://schemas.microsoft.com/office/drawing/2014/main" id="{D457A154-207B-4AD4-97BC-FADD837282E2}"/>
              </a:ext>
            </a:extLst>
          </p:cNvPr>
          <p:cNvSpPr>
            <a:spLocks noGrp="1"/>
          </p:cNvSpPr>
          <p:nvPr/>
        </p:nvSpPr>
        <p:spPr>
          <a:xfrm>
            <a:off x="533400" y="1619250"/>
            <a:ext cx="10763250" cy="342900"/>
          </a:xfrm>
          <a:prstGeom prst="rect">
            <a:avLst/>
          </a:prstGeom>
          <a:noFill/>
          <a:ln w="0">
            <a:noFill/>
          </a:ln>
        </p:spPr>
        <p:txBody>
          <a:bodyPr anchor="ctr">
            <a:noAutofit/>
          </a:bodyPr>
          <a:lstStyle/>
          <a:p>
            <a:pPr>
              <a:defRPr sz="1950" b="0">
                <a:solidFill>
                  <a:srgbClr val="80533A"/>
                </a:solidFill>
                <a:latin typeface="Arial"/>
                <a:ea typeface="Arial"/>
                <a:cs typeface="Arial"/>
              </a:defRPr>
            </a:pPr>
            <a:r>
              <a:rPr sz="1950" b="0">
                <a:solidFill>
                  <a:srgbClr val="80533A"/>
                </a:solidFill>
                <a:latin typeface="Arial"/>
                <a:ea typeface="Arial"/>
                <a:cs typeface="Arial"/>
              </a:rPr>
              <a:t>Một câu sai là điểm bắt đầu của đường ôn tập</a:t>
            </a:r>
          </a:p>
        </p:txBody>
      </p:sp>
      <p:sp>
        <p:nvSpPr>
          <p:cNvPr id="7" name="Hình chữ nhật 6">
            <a:extLst>
              <a:ext uri="{FF2B5EF4-FFF2-40B4-BE49-F238E27FC236}">
                <a16:creationId xmlns:a16="http://schemas.microsoft.com/office/drawing/2014/main" id="{2B5478B2-2D5B-4C97-AEEA-0C5FE7C84746}"/>
              </a:ext>
            </a:extLst>
          </p:cNvPr>
          <p:cNvSpPr>
            <a:spLocks noGrp="1"/>
          </p:cNvSpPr>
          <p:nvPr/>
        </p:nvSpPr>
        <p:spPr>
          <a:xfrm>
            <a:off x="533400" y="2114550"/>
            <a:ext cx="4857750" cy="238125"/>
          </a:xfrm>
          <a:prstGeom prst="rect">
            <a:avLst/>
          </a:prstGeom>
          <a:noFill/>
          <a:ln w="0">
            <a:noFill/>
          </a:ln>
        </p:spPr>
        <p:txBody>
          <a:bodyPr anchor="ctr">
            <a:noAutofit/>
          </a:bodyPr>
          <a:lstStyle/>
          <a:p>
            <a:pPr>
              <a:defRPr sz="1200" b="1">
                <a:solidFill>
                  <a:srgbClr val="216C6D"/>
                </a:solidFill>
                <a:latin typeface="Arial"/>
                <a:ea typeface="Arial"/>
                <a:cs typeface="Arial"/>
              </a:defRPr>
            </a:pPr>
            <a:r>
              <a:rPr sz="1200" b="1">
                <a:solidFill>
                  <a:srgbClr val="216C6D"/>
                </a:solidFill>
                <a:latin typeface="Arial"/>
                <a:ea typeface="Arial"/>
                <a:cs typeface="Arial"/>
              </a:rPr>
              <a:t>LÁT CẮT SẢN PHẨM</a:t>
            </a:r>
          </a:p>
        </p:txBody>
      </p:sp>
      <p:sp>
        <p:nvSpPr>
          <p:cNvPr id="8" name="Hình chữ nhật 7">
            <a:extLst>
              <a:ext uri="{FF2B5EF4-FFF2-40B4-BE49-F238E27FC236}">
                <a16:creationId xmlns:a16="http://schemas.microsoft.com/office/drawing/2014/main" id="{D0CA61E4-A39D-46D4-939B-0FECD7FD77AC}"/>
              </a:ext>
            </a:extLst>
          </p:cNvPr>
          <p:cNvSpPr>
            <a:spLocks noGrp="1"/>
          </p:cNvSpPr>
          <p:nvPr/>
        </p:nvSpPr>
        <p:spPr>
          <a:xfrm>
            <a:off x="533400" y="2447925"/>
            <a:ext cx="10668000" cy="838200"/>
          </a:xfrm>
          <a:prstGeom prst="rect">
            <a:avLst/>
          </a:prstGeom>
          <a:noFill/>
          <a:ln w="0">
            <a:noFill/>
          </a:ln>
        </p:spPr>
        <p:txBody>
          <a:bodyPr anchor="ctr">
            <a:noAutofit/>
          </a:bodyPr>
          <a:lstStyle/>
          <a:p>
            <a:pPr>
              <a:defRPr sz="2250" b="1">
                <a:solidFill>
                  <a:srgbClr val="3A2922"/>
                </a:solidFill>
                <a:latin typeface="Arial"/>
                <a:ea typeface="Arial"/>
                <a:cs typeface="Arial"/>
              </a:defRPr>
            </a:pPr>
            <a:r>
              <a:rPr sz="2250" b="1">
                <a:solidFill>
                  <a:srgbClr val="3A2922"/>
                </a:solidFill>
                <a:latin typeface="Arial"/>
                <a:ea typeface="Arial"/>
                <a:cs typeface="Arial"/>
              </a:rPr>
              <a:t>Làm quiz → sai → giải thích đáp án → AI soạn câu kiểm tra nền → leo cây tối đa 3 vòng → lộ trình ôn kèm mã đoạn bấm ra nguyên văn. Sai nhiều mục thì xong mục này sang mục kế.</a:t>
            </a:r>
          </a:p>
        </p:txBody>
      </p:sp>
      <p:sp>
        <p:nvSpPr>
          <p:cNvPr id="9" name="Hình chữ nhật 8">
            <a:extLst>
              <a:ext uri="{FF2B5EF4-FFF2-40B4-BE49-F238E27FC236}">
                <a16:creationId xmlns:a16="http://schemas.microsoft.com/office/drawing/2014/main" id="{AF295841-2A6F-46FD-95F8-692B0A463B46}"/>
              </a:ext>
            </a:extLst>
          </p:cNvPr>
          <p:cNvSpPr>
            <a:spLocks noGrp="1"/>
          </p:cNvSpPr>
          <p:nvPr/>
        </p:nvSpPr>
        <p:spPr>
          <a:xfrm>
            <a:off x="533400" y="3514725"/>
            <a:ext cx="11125200" cy="19050"/>
          </a:xfrm>
          <a:prstGeom prst="rect">
            <a:avLst/>
          </a:prstGeom>
          <a:solidFill>
            <a:srgbClr val="D9CABE"/>
          </a:solidFill>
          <a:ln w="0">
            <a:noFill/>
          </a:ln>
        </p:spPr>
        <p:txBody>
          <a:bodyPr/>
          <a:lstStyle/>
          <a:p>
            <a:endParaRPr lang="en-US"/>
          </a:p>
        </p:txBody>
      </p:sp>
      <p:sp>
        <p:nvSpPr>
          <p:cNvPr id="10" name="Hình chữ nhật 9">
            <a:extLst>
              <a:ext uri="{FF2B5EF4-FFF2-40B4-BE49-F238E27FC236}">
                <a16:creationId xmlns:a16="http://schemas.microsoft.com/office/drawing/2014/main" id="{F2A8CF3D-2144-4AEB-BF47-6D00A07E99F9}"/>
              </a:ext>
            </a:extLst>
          </p:cNvPr>
          <p:cNvSpPr>
            <a:spLocks noGrp="1"/>
          </p:cNvSpPr>
          <p:nvPr/>
        </p:nvSpPr>
        <p:spPr>
          <a:xfrm>
            <a:off x="533400" y="3733800"/>
            <a:ext cx="4953000" cy="238125"/>
          </a:xfrm>
          <a:prstGeom prst="rect">
            <a:avLst/>
          </a:prstGeom>
          <a:noFill/>
          <a:ln w="0">
            <a:noFill/>
          </a:ln>
        </p:spPr>
        <p:txBody>
          <a:bodyPr anchor="ctr">
            <a:noAutofit/>
          </a:bodyPr>
          <a:lstStyle/>
          <a:p>
            <a:pPr>
              <a:defRPr sz="1200" b="1">
                <a:solidFill>
                  <a:srgbClr val="216C6D"/>
                </a:solidFill>
                <a:latin typeface="Arial"/>
                <a:ea typeface="Arial"/>
                <a:cs typeface="Arial"/>
              </a:defRPr>
            </a:pPr>
            <a:r>
              <a:rPr sz="1200" b="1">
                <a:solidFill>
                  <a:srgbClr val="216C6D"/>
                </a:solidFill>
                <a:latin typeface="Arial"/>
                <a:ea typeface="Arial"/>
                <a:cs typeface="Arial"/>
              </a:rPr>
              <a:t>CASE CHUẨN  ·  45 GIÂY</a:t>
            </a:r>
          </a:p>
        </p:txBody>
      </p:sp>
      <p:sp>
        <p:nvSpPr>
          <p:cNvPr id="11" name="Hình chữ nhật 10">
            <a:extLst>
              <a:ext uri="{FF2B5EF4-FFF2-40B4-BE49-F238E27FC236}">
                <a16:creationId xmlns:a16="http://schemas.microsoft.com/office/drawing/2014/main" id="{7F4A6925-A47B-430B-A038-F337B7CFCDDD}"/>
              </a:ext>
            </a:extLst>
          </p:cNvPr>
          <p:cNvSpPr>
            <a:spLocks noGrp="1"/>
          </p:cNvSpPr>
          <p:nvPr/>
        </p:nvSpPr>
        <p:spPr>
          <a:xfrm>
            <a:off x="533400" y="4067175"/>
            <a:ext cx="5010150" cy="1057275"/>
          </a:xfrm>
          <a:prstGeom prst="rect">
            <a:avLst/>
          </a:prstGeom>
          <a:noFill/>
          <a:ln w="0">
            <a:noFill/>
          </a:ln>
        </p:spPr>
        <p:txBody>
          <a:bodyPr anchor="ctr">
            <a:noAutofit/>
          </a:bodyPr>
          <a:lstStyle/>
          <a:p>
            <a:pPr>
              <a:defRPr sz="1875" b="0">
                <a:solidFill>
                  <a:srgbClr val="3A2922"/>
                </a:solidFill>
                <a:latin typeface="Arial"/>
                <a:ea typeface="Arial"/>
                <a:cs typeface="Arial"/>
              </a:defRPr>
            </a:pPr>
            <a:r>
              <a:rPr sz="1875" b="0">
                <a:solidFill>
                  <a:srgbClr val="3A2922"/>
                </a:solidFill>
                <a:latin typeface="Arial"/>
                <a:ea typeface="Arial"/>
                <a:cs typeface="Arial"/>
              </a:rPr>
              <a:t>Sai câu gốc → đúng câu tương tự → gắn nhãn “nhầm khi áp dụng” → chọn mục kế hoặc kết thúc.</a:t>
            </a:r>
          </a:p>
        </p:txBody>
      </p:sp>
      <p:sp>
        <p:nvSpPr>
          <p:cNvPr id="12" name="Hình chữ nhật 11">
            <a:extLst>
              <a:ext uri="{FF2B5EF4-FFF2-40B4-BE49-F238E27FC236}">
                <a16:creationId xmlns:a16="http://schemas.microsoft.com/office/drawing/2014/main" id="{21ADCD9D-2397-418F-9E48-6617FC5B731A}"/>
              </a:ext>
            </a:extLst>
          </p:cNvPr>
          <p:cNvSpPr>
            <a:spLocks noGrp="1"/>
          </p:cNvSpPr>
          <p:nvPr/>
        </p:nvSpPr>
        <p:spPr>
          <a:xfrm>
            <a:off x="6286500" y="3733800"/>
            <a:ext cx="5238750" cy="238125"/>
          </a:xfrm>
          <a:prstGeom prst="rect">
            <a:avLst/>
          </a:prstGeom>
          <a:noFill/>
          <a:ln w="0">
            <a:noFill/>
          </a:ln>
        </p:spPr>
        <p:txBody>
          <a:bodyPr anchor="ctr">
            <a:noAutofit/>
          </a:bodyPr>
          <a:lstStyle/>
          <a:p>
            <a:pPr>
              <a:defRPr sz="1200" b="1">
                <a:solidFill>
                  <a:srgbClr val="216C6D"/>
                </a:solidFill>
                <a:latin typeface="Arial"/>
                <a:ea typeface="Arial"/>
                <a:cs typeface="Arial"/>
              </a:defRPr>
            </a:pPr>
            <a:r>
              <a:rPr sz="1200" b="1">
                <a:solidFill>
                  <a:srgbClr val="216C6D"/>
                </a:solidFill>
                <a:latin typeface="Arial"/>
                <a:ea typeface="Arial"/>
                <a:cs typeface="Arial"/>
              </a:rPr>
              <a:t>CASE CHỖ KHÓ  ·  75 GIÂY</a:t>
            </a:r>
          </a:p>
        </p:txBody>
      </p:sp>
      <p:sp>
        <p:nvSpPr>
          <p:cNvPr id="13" name="Hình chữ nhật 12">
            <a:extLst>
              <a:ext uri="{FF2B5EF4-FFF2-40B4-BE49-F238E27FC236}">
                <a16:creationId xmlns:a16="http://schemas.microsoft.com/office/drawing/2014/main" id="{E212B406-276B-4F3B-9EE9-0ED00F6B6313}"/>
              </a:ext>
            </a:extLst>
          </p:cNvPr>
          <p:cNvSpPr>
            <a:spLocks noGrp="1"/>
          </p:cNvSpPr>
          <p:nvPr/>
        </p:nvSpPr>
        <p:spPr>
          <a:xfrm>
            <a:off x="6286500" y="4067175"/>
            <a:ext cx="5219700" cy="1152525"/>
          </a:xfrm>
          <a:prstGeom prst="rect">
            <a:avLst/>
          </a:prstGeom>
          <a:noFill/>
          <a:ln w="0">
            <a:noFill/>
          </a:ln>
        </p:spPr>
        <p:txBody>
          <a:bodyPr anchor="ctr">
            <a:noAutofit/>
          </a:bodyPr>
          <a:lstStyle/>
          <a:p>
            <a:pPr>
              <a:defRPr sz="1875" b="0">
                <a:solidFill>
                  <a:srgbClr val="3A2922"/>
                </a:solidFill>
                <a:latin typeface="Arial"/>
                <a:ea typeface="Arial"/>
                <a:cs typeface="Arial"/>
              </a:defRPr>
            </a:pPr>
            <a:r>
              <a:rPr sz="1875" b="0">
                <a:solidFill>
                  <a:srgbClr val="3A2922"/>
                </a:solidFill>
                <a:latin typeface="Arial"/>
                <a:ea typeface="Arial"/>
                <a:cs typeface="Arial"/>
              </a:rPr>
              <a:t>Sai câu gốc và câu tương tự → sai các vòng nền → dừng ở vòng 3, chỉ phần cần ôn và đoạn bài giảng nguồn.</a:t>
            </a:r>
          </a:p>
        </p:txBody>
      </p:sp>
      <p:sp>
        <p:nvSpPr>
          <p:cNvPr id="14" name="Hình chữ nhật 13">
            <a:extLst>
              <a:ext uri="{FF2B5EF4-FFF2-40B4-BE49-F238E27FC236}">
                <a16:creationId xmlns:a16="http://schemas.microsoft.com/office/drawing/2014/main" id="{FBD15B93-D04B-426C-9D20-FB54AFD4B43F}"/>
              </a:ext>
            </a:extLst>
          </p:cNvPr>
          <p:cNvSpPr>
            <a:spLocks noGrp="1"/>
          </p:cNvSpPr>
          <p:nvPr/>
        </p:nvSpPr>
        <p:spPr>
          <a:xfrm>
            <a:off x="533400" y="5543550"/>
            <a:ext cx="10953750" cy="504825"/>
          </a:xfrm>
          <a:prstGeom prst="rect">
            <a:avLst/>
          </a:prstGeom>
          <a:noFill/>
          <a:ln w="0">
            <a:noFill/>
          </a:ln>
        </p:spPr>
        <p:txBody>
          <a:bodyPr anchor="ctr">
            <a:noAutofit/>
          </a:bodyPr>
          <a:lstStyle/>
          <a:p>
            <a:pPr>
              <a:defRPr sz="1650" b="1">
                <a:solidFill>
                  <a:srgbClr val="216C6D"/>
                </a:solidFill>
                <a:latin typeface="Arial"/>
                <a:ea typeface="Arial"/>
                <a:cs typeface="Arial"/>
              </a:defRPr>
            </a:pPr>
            <a:r>
              <a:rPr sz="1650" b="1">
                <a:solidFill>
                  <a:srgbClr val="216C6D"/>
                </a:solidFill>
                <a:latin typeface="Arial"/>
                <a:ea typeface="Arial"/>
                <a:cs typeface="Arial"/>
              </a:rPr>
              <a:t>Giới hạn lỗi: chỉ kết luận “thiếu nền” sau kiểm tra; dừng sau 3 vòng; node không đủ tư liệu thì báo thẳng chưa kiểm tra được.</a:t>
            </a:r>
          </a:p>
        </p:txBody>
      </p:sp>
    </p:spTree>
    <p:extLst>
      <p:ext uri="{BB962C8B-B14F-4D97-AF65-F5344CB8AC3E}">
        <p14:creationId xmlns:p14="http://schemas.microsoft.com/office/powerpoint/2010/main" val="1562693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7EF"/>
        </a:solidFill>
        <a:effectLst/>
      </p:bgPr>
    </p:bg>
    <p:spTree>
      <p:nvGrpSpPr>
        <p:cNvPr id="1" name=""/>
        <p:cNvGrpSpPr/>
        <p:nvPr/>
      </p:nvGrpSpPr>
      <p:grpSpPr>
        <a:xfrm>
          <a:off x="0" y="0"/>
          <a:ext cx="0" cy="0"/>
          <a:chOff x="0" y="0"/>
          <a:chExt cx="0" cy="0"/>
        </a:xfrm>
      </p:grpSpPr>
      <p:pic>
        <p:nvPicPr>
          <p:cNvPr id="16" name="Hình ảnh 15"/>
          <p:cNvPicPr>
            <a:picLocks noChangeAspect="1"/>
          </p:cNvPicPr>
          <p:nvPr/>
        </p:nvPicPr>
        <p:blipFill>
          <a:blip r:embed="rId3"/>
          <a:srcRect t="7813" b="7813"/>
          <a:stretch>
            <a:fillRect/>
          </a:stretch>
        </p:blipFill>
        <p:spPr>
          <a:xfrm>
            <a:off x="0" y="0"/>
            <a:ext cx="12192000" cy="6858000"/>
          </a:xfrm>
          <a:prstGeom prst="rect">
            <a:avLst/>
          </a:prstGeom>
        </p:spPr>
      </p:pic>
      <p:sp>
        <p:nvSpPr>
          <p:cNvPr id="2" name="Hình chữ nhật 1">
            <a:extLst>
              <a:ext uri="{FF2B5EF4-FFF2-40B4-BE49-F238E27FC236}">
                <a16:creationId xmlns:a16="http://schemas.microsoft.com/office/drawing/2014/main" id="{B83A7AFC-2CCA-4B13-A53B-E149DE13DFA9}"/>
              </a:ext>
            </a:extLst>
          </p:cNvPr>
          <p:cNvSpPr>
            <a:spLocks noGrp="1"/>
          </p:cNvSpPr>
          <p:nvPr/>
        </p:nvSpPr>
        <p:spPr>
          <a:xfrm>
            <a:off x="0" y="0"/>
            <a:ext cx="12192000" cy="6858000"/>
          </a:xfrm>
          <a:prstGeom prst="rect">
            <a:avLst/>
          </a:prstGeom>
          <a:solidFill>
            <a:srgbClr val="FCF7EF">
              <a:alpha val="87000"/>
            </a:srgbClr>
          </a:solidFill>
          <a:ln w="0">
            <a:noFill/>
          </a:ln>
        </p:spPr>
        <p:txBody>
          <a:bodyPr/>
          <a:lstStyle/>
          <a:p>
            <a:endParaRPr lang="en-US"/>
          </a:p>
        </p:txBody>
      </p:sp>
      <p:sp>
        <p:nvSpPr>
          <p:cNvPr id="3" name="Hình chữ nhật 2">
            <a:extLst>
              <a:ext uri="{FF2B5EF4-FFF2-40B4-BE49-F238E27FC236}">
                <a16:creationId xmlns:a16="http://schemas.microsoft.com/office/drawing/2014/main" id="{29CD3BBC-514E-4086-B8C5-D93C59B9B6AC}"/>
              </a:ext>
            </a:extLst>
          </p:cNvPr>
          <p:cNvSpPr>
            <a:spLocks noGrp="1"/>
          </p:cNvSpPr>
          <p:nvPr/>
        </p:nvSpPr>
        <p:spPr>
          <a:xfrm>
            <a:off x="533400" y="276225"/>
            <a:ext cx="7143750" cy="238125"/>
          </a:xfrm>
          <a:prstGeom prst="rect">
            <a:avLst/>
          </a:prstGeom>
          <a:noFill/>
          <a:ln w="0">
            <a:noFill/>
          </a:ln>
        </p:spPr>
        <p:txBody>
          <a:bodyPr anchor="ctr">
            <a:noAutofit/>
          </a:bodyPr>
          <a:lstStyle/>
          <a:p>
            <a:pPr>
              <a:defRPr sz="1050" b="1">
                <a:solidFill>
                  <a:srgbClr val="216C6D"/>
                </a:solidFill>
                <a:latin typeface="Arial"/>
                <a:ea typeface="Arial"/>
                <a:cs typeface="Arial"/>
              </a:defRPr>
            </a:pPr>
            <a:r>
              <a:rPr sz="1050" b="1">
                <a:solidFill>
                  <a:srgbClr val="216C6D"/>
                </a:solidFill>
                <a:latin typeface="Arial"/>
                <a:ea typeface="Arial"/>
                <a:cs typeface="Arial"/>
              </a:rPr>
              <a:t>COLDBREW QUIZZ  /  04</a:t>
            </a:r>
          </a:p>
        </p:txBody>
      </p:sp>
      <p:sp>
        <p:nvSpPr>
          <p:cNvPr id="4" name="Hình chữ nhật 3">
            <a:extLst>
              <a:ext uri="{FF2B5EF4-FFF2-40B4-BE49-F238E27FC236}">
                <a16:creationId xmlns:a16="http://schemas.microsoft.com/office/drawing/2014/main" id="{9A1614F5-3EFD-4795-B79E-61AB6AE9CD99}"/>
              </a:ext>
            </a:extLst>
          </p:cNvPr>
          <p:cNvSpPr>
            <a:spLocks noGrp="1"/>
          </p:cNvSpPr>
          <p:nvPr/>
        </p:nvSpPr>
        <p:spPr>
          <a:xfrm>
            <a:off x="533400" y="704850"/>
            <a:ext cx="11125200" cy="666750"/>
          </a:xfrm>
          <a:prstGeom prst="rect">
            <a:avLst/>
          </a:prstGeom>
          <a:noFill/>
          <a:ln w="0">
            <a:noFill/>
          </a:ln>
        </p:spPr>
        <p:txBody>
          <a:bodyPr anchor="ctr">
            <a:noAutofit/>
          </a:bodyPr>
          <a:lstStyle/>
          <a:p>
            <a:pPr>
              <a:defRPr sz="3150" b="1">
                <a:solidFill>
                  <a:srgbClr val="3A2922"/>
                </a:solidFill>
                <a:latin typeface="Arial"/>
                <a:ea typeface="Arial"/>
                <a:cs typeface="Arial"/>
              </a:defRPr>
            </a:pPr>
            <a:r>
              <a:rPr sz="3150" b="1">
                <a:solidFill>
                  <a:srgbClr val="3A2922"/>
                </a:solidFill>
                <a:latin typeface="Arial"/>
                <a:ea typeface="Arial"/>
                <a:cs typeface="Arial"/>
              </a:rPr>
              <a:t>Kết quả đo trên golden set và AI thật</a:t>
            </a:r>
          </a:p>
        </p:txBody>
      </p:sp>
      <p:sp>
        <p:nvSpPr>
          <p:cNvPr id="5" name="Hình chữ nhật 4">
            <a:extLst>
              <a:ext uri="{FF2B5EF4-FFF2-40B4-BE49-F238E27FC236}">
                <a16:creationId xmlns:a16="http://schemas.microsoft.com/office/drawing/2014/main" id="{8056BDE7-FA48-491B-90CC-F69F70904740}"/>
              </a:ext>
            </a:extLst>
          </p:cNvPr>
          <p:cNvSpPr>
            <a:spLocks noGrp="1"/>
          </p:cNvSpPr>
          <p:nvPr/>
        </p:nvSpPr>
        <p:spPr>
          <a:xfrm>
            <a:off x="533400" y="1409700"/>
            <a:ext cx="11125200" cy="19050"/>
          </a:xfrm>
          <a:prstGeom prst="rect">
            <a:avLst/>
          </a:prstGeom>
          <a:solidFill>
            <a:srgbClr val="D9CABE"/>
          </a:solidFill>
          <a:ln w="0">
            <a:noFill/>
          </a:ln>
        </p:spPr>
        <p:txBody>
          <a:bodyPr/>
          <a:lstStyle/>
          <a:p>
            <a:endParaRPr lang="en-US"/>
          </a:p>
        </p:txBody>
      </p:sp>
      <p:sp>
        <p:nvSpPr>
          <p:cNvPr id="6" name="Hình chữ nhật 5">
            <a:extLst>
              <a:ext uri="{FF2B5EF4-FFF2-40B4-BE49-F238E27FC236}">
                <a16:creationId xmlns:a16="http://schemas.microsoft.com/office/drawing/2014/main" id="{63412778-4A32-4740-9BE7-1C7AAD90FF39}"/>
              </a:ext>
            </a:extLst>
          </p:cNvPr>
          <p:cNvSpPr>
            <a:spLocks noGrp="1"/>
          </p:cNvSpPr>
          <p:nvPr/>
        </p:nvSpPr>
        <p:spPr>
          <a:xfrm>
            <a:off x="10934700" y="6353175"/>
            <a:ext cx="762000" cy="238125"/>
          </a:xfrm>
          <a:prstGeom prst="rect">
            <a:avLst/>
          </a:prstGeom>
          <a:noFill/>
          <a:ln w="0">
            <a:noFill/>
          </a:ln>
        </p:spPr>
        <p:txBody>
          <a:bodyPr anchor="ctr">
            <a:noAutofit/>
          </a:bodyPr>
          <a:lstStyle/>
          <a:p>
            <a:pPr>
              <a:defRPr sz="1050" b="1">
                <a:solidFill>
                  <a:srgbClr val="C16B40"/>
                </a:solidFill>
                <a:latin typeface="Arial"/>
                <a:ea typeface="Arial"/>
                <a:cs typeface="Arial"/>
              </a:defRPr>
            </a:pPr>
            <a:r>
              <a:rPr sz="1050" b="1">
                <a:solidFill>
                  <a:srgbClr val="C16B40"/>
                </a:solidFill>
                <a:latin typeface="Arial"/>
                <a:ea typeface="Arial"/>
                <a:cs typeface="Arial"/>
              </a:rPr>
              <a:t>45″</a:t>
            </a:r>
          </a:p>
        </p:txBody>
      </p:sp>
      <p:sp>
        <p:nvSpPr>
          <p:cNvPr id="7" name="Hình chữ nhật 6">
            <a:extLst>
              <a:ext uri="{FF2B5EF4-FFF2-40B4-BE49-F238E27FC236}">
                <a16:creationId xmlns:a16="http://schemas.microsoft.com/office/drawing/2014/main" id="{978B9D5A-F97B-4742-A0BD-31352DD09D56}"/>
              </a:ext>
            </a:extLst>
          </p:cNvPr>
          <p:cNvSpPr>
            <a:spLocks noGrp="1"/>
          </p:cNvSpPr>
          <p:nvPr/>
        </p:nvSpPr>
        <p:spPr>
          <a:xfrm>
            <a:off x="533400" y="1809750"/>
            <a:ext cx="2857500" cy="952500"/>
          </a:xfrm>
          <a:prstGeom prst="rect">
            <a:avLst/>
          </a:prstGeom>
          <a:noFill/>
          <a:ln w="0">
            <a:noFill/>
          </a:ln>
        </p:spPr>
        <p:txBody>
          <a:bodyPr anchor="ctr">
            <a:noAutofit/>
          </a:bodyPr>
          <a:lstStyle/>
          <a:p>
            <a:pPr>
              <a:defRPr sz="5775" b="1">
                <a:solidFill>
                  <a:srgbClr val="C16B40"/>
                </a:solidFill>
                <a:latin typeface="Arial"/>
                <a:ea typeface="Arial"/>
                <a:cs typeface="Arial"/>
              </a:defRPr>
            </a:pPr>
            <a:r>
              <a:rPr sz="5775" b="1">
                <a:solidFill>
                  <a:srgbClr val="C16B40"/>
                </a:solidFill>
                <a:latin typeface="Arial"/>
                <a:ea typeface="Arial"/>
                <a:cs typeface="Arial"/>
              </a:rPr>
              <a:t>31–32</a:t>
            </a:r>
          </a:p>
        </p:txBody>
      </p:sp>
      <p:sp>
        <p:nvSpPr>
          <p:cNvPr id="8" name="Hình chữ nhật 7">
            <a:extLst>
              <a:ext uri="{FF2B5EF4-FFF2-40B4-BE49-F238E27FC236}">
                <a16:creationId xmlns:a16="http://schemas.microsoft.com/office/drawing/2014/main" id="{BF80B0E5-CA38-4497-AE30-5E4E3569D708}"/>
              </a:ext>
            </a:extLst>
          </p:cNvPr>
          <p:cNvSpPr>
            <a:spLocks noGrp="1"/>
          </p:cNvSpPr>
          <p:nvPr/>
        </p:nvSpPr>
        <p:spPr>
          <a:xfrm>
            <a:off x="533400" y="2743200"/>
            <a:ext cx="4286250" cy="381000"/>
          </a:xfrm>
          <a:prstGeom prst="rect">
            <a:avLst/>
          </a:prstGeom>
          <a:noFill/>
          <a:ln w="0">
            <a:noFill/>
          </a:ln>
        </p:spPr>
        <p:txBody>
          <a:bodyPr anchor="ctr">
            <a:noAutofit/>
          </a:bodyPr>
          <a:lstStyle/>
          <a:p>
            <a:pPr>
              <a:defRPr sz="1950" b="0">
                <a:solidFill>
                  <a:srgbClr val="3A2922"/>
                </a:solidFill>
                <a:latin typeface="Arial"/>
                <a:ea typeface="Arial"/>
                <a:cs typeface="Arial"/>
              </a:defRPr>
            </a:pPr>
            <a:r>
              <a:rPr sz="1950" b="0">
                <a:solidFill>
                  <a:srgbClr val="3A2922"/>
                </a:solidFill>
                <a:latin typeface="Arial"/>
                <a:ea typeface="Arial"/>
                <a:cs typeface="Arial"/>
              </a:rPr>
              <a:t>phản hồi khảo sát nhu cầu</a:t>
            </a:r>
          </a:p>
        </p:txBody>
      </p:sp>
      <p:sp>
        <p:nvSpPr>
          <p:cNvPr id="9" name="Hình chữ nhật 8">
            <a:extLst>
              <a:ext uri="{FF2B5EF4-FFF2-40B4-BE49-F238E27FC236}">
                <a16:creationId xmlns:a16="http://schemas.microsoft.com/office/drawing/2014/main" id="{F0D24B1B-0C2B-4782-97EC-F152676A7364}"/>
              </a:ext>
            </a:extLst>
          </p:cNvPr>
          <p:cNvSpPr>
            <a:spLocks noGrp="1"/>
          </p:cNvSpPr>
          <p:nvPr/>
        </p:nvSpPr>
        <p:spPr>
          <a:xfrm>
            <a:off x="5600700" y="1809750"/>
            <a:ext cx="5905500" cy="714375"/>
          </a:xfrm>
          <a:prstGeom prst="rect">
            <a:avLst/>
          </a:prstGeom>
          <a:noFill/>
          <a:ln w="0">
            <a:noFill/>
          </a:ln>
        </p:spPr>
        <p:txBody>
          <a:bodyPr anchor="ctr">
            <a:noAutofit/>
          </a:bodyPr>
          <a:lstStyle/>
          <a:p>
            <a:pPr>
              <a:defRPr sz="3525" b="1">
                <a:solidFill>
                  <a:srgbClr val="AE433B"/>
                </a:solidFill>
                <a:latin typeface="Arial"/>
                <a:ea typeface="Arial"/>
                <a:cs typeface="Arial"/>
              </a:defRPr>
            </a:pPr>
            <a:r>
              <a:rPr sz="3525" b="1">
                <a:solidFill>
                  <a:srgbClr val="AE433B"/>
                </a:solidFill>
                <a:latin typeface="Arial"/>
                <a:ea typeface="Arial"/>
                <a:cs typeface="Arial"/>
              </a:rPr>
              <a:t>22/22</a:t>
            </a:r>
          </a:p>
        </p:txBody>
      </p:sp>
      <p:sp>
        <p:nvSpPr>
          <p:cNvPr id="10" name="Hình chữ nhật 9">
            <a:extLst>
              <a:ext uri="{FF2B5EF4-FFF2-40B4-BE49-F238E27FC236}">
                <a16:creationId xmlns:a16="http://schemas.microsoft.com/office/drawing/2014/main" id="{62565BAC-1F3F-4911-8837-F12A720B0F7B}"/>
              </a:ext>
            </a:extLst>
          </p:cNvPr>
          <p:cNvSpPr>
            <a:spLocks noGrp="1"/>
          </p:cNvSpPr>
          <p:nvPr/>
        </p:nvSpPr>
        <p:spPr>
          <a:xfrm>
            <a:off x="5600700" y="2562225"/>
            <a:ext cx="5905500" cy="600075"/>
          </a:xfrm>
          <a:prstGeom prst="rect">
            <a:avLst/>
          </a:prstGeom>
          <a:noFill/>
          <a:ln w="0">
            <a:noFill/>
          </a:ln>
        </p:spPr>
        <p:txBody>
          <a:bodyPr anchor="ctr">
            <a:noAutofit/>
          </a:bodyPr>
          <a:lstStyle/>
          <a:p>
            <a:pPr>
              <a:defRPr sz="1875" b="0">
                <a:solidFill>
                  <a:srgbClr val="3A2922"/>
                </a:solidFill>
                <a:latin typeface="Arial"/>
                <a:ea typeface="Arial"/>
                <a:cs typeface="Arial"/>
              </a:defRPr>
            </a:pPr>
            <a:r>
              <a:rPr sz="1875" b="0">
                <a:solidFill>
                  <a:srgbClr val="3A2922"/>
                </a:solidFill>
                <a:latin typeface="Arial"/>
                <a:ea typeface="Arial"/>
                <a:cs typeface="Arial"/>
              </a:rPr>
              <a:t>case golden set định vị đúng chỗ hổng</a:t>
            </a:r>
          </a:p>
        </p:txBody>
      </p:sp>
      <p:sp>
        <p:nvSpPr>
          <p:cNvPr id="11" name="Hình chữ nhật 10">
            <a:extLst>
              <a:ext uri="{FF2B5EF4-FFF2-40B4-BE49-F238E27FC236}">
                <a16:creationId xmlns:a16="http://schemas.microsoft.com/office/drawing/2014/main" id="{3446F541-ABB5-4175-9DF5-A4A891723B74}"/>
              </a:ext>
            </a:extLst>
          </p:cNvPr>
          <p:cNvSpPr>
            <a:spLocks noGrp="1"/>
          </p:cNvSpPr>
          <p:nvPr/>
        </p:nvSpPr>
        <p:spPr>
          <a:xfrm>
            <a:off x="533400" y="3486150"/>
            <a:ext cx="11125200" cy="19050"/>
          </a:xfrm>
          <a:prstGeom prst="rect">
            <a:avLst/>
          </a:prstGeom>
          <a:solidFill>
            <a:srgbClr val="D9CABE"/>
          </a:solidFill>
          <a:ln w="0">
            <a:noFill/>
          </a:ln>
        </p:spPr>
        <p:txBody>
          <a:bodyPr/>
          <a:lstStyle/>
          <a:p>
            <a:endParaRPr lang="en-US"/>
          </a:p>
        </p:txBody>
      </p:sp>
      <p:sp>
        <p:nvSpPr>
          <p:cNvPr id="12" name="Hình chữ nhật 11">
            <a:extLst>
              <a:ext uri="{FF2B5EF4-FFF2-40B4-BE49-F238E27FC236}">
                <a16:creationId xmlns:a16="http://schemas.microsoft.com/office/drawing/2014/main" id="{94697B6F-B89C-406A-BA72-DEE11E2B8C1B}"/>
              </a:ext>
            </a:extLst>
          </p:cNvPr>
          <p:cNvSpPr>
            <a:spLocks noGrp="1"/>
          </p:cNvSpPr>
          <p:nvPr/>
        </p:nvSpPr>
        <p:spPr>
          <a:xfrm>
            <a:off x="533400" y="3733800"/>
            <a:ext cx="10668000" cy="238125"/>
          </a:xfrm>
          <a:prstGeom prst="rect">
            <a:avLst/>
          </a:prstGeom>
          <a:noFill/>
          <a:ln w="0">
            <a:noFill/>
          </a:ln>
        </p:spPr>
        <p:txBody>
          <a:bodyPr anchor="ctr">
            <a:noAutofit/>
          </a:bodyPr>
          <a:lstStyle/>
          <a:p>
            <a:pPr>
              <a:defRPr sz="1200" b="1">
                <a:solidFill>
                  <a:srgbClr val="216C6D"/>
                </a:solidFill>
                <a:latin typeface="Arial"/>
                <a:ea typeface="Arial"/>
                <a:cs typeface="Arial"/>
              </a:defRPr>
            </a:pPr>
            <a:r>
              <a:rPr sz="1200" b="1">
                <a:solidFill>
                  <a:srgbClr val="216C6D"/>
                </a:solidFill>
                <a:latin typeface="Arial"/>
                <a:ea typeface="Arial"/>
                <a:cs typeface="Arial"/>
              </a:rPr>
              <a:t>SỐ ĐO HIỆN CÓ</a:t>
            </a:r>
          </a:p>
        </p:txBody>
      </p:sp>
      <p:sp>
        <p:nvSpPr>
          <p:cNvPr id="13" name="Hình chữ nhật 12">
            <a:extLst>
              <a:ext uri="{FF2B5EF4-FFF2-40B4-BE49-F238E27FC236}">
                <a16:creationId xmlns:a16="http://schemas.microsoft.com/office/drawing/2014/main" id="{9F0E1C85-DD23-4658-B37B-D928AAA4B65C}"/>
              </a:ext>
            </a:extLst>
          </p:cNvPr>
          <p:cNvSpPr>
            <a:spLocks noGrp="1"/>
          </p:cNvSpPr>
          <p:nvPr/>
        </p:nvSpPr>
        <p:spPr>
          <a:xfrm>
            <a:off x="533400" y="4124325"/>
            <a:ext cx="10906125" cy="428625"/>
          </a:xfrm>
          <a:prstGeom prst="rect">
            <a:avLst/>
          </a:prstGeom>
          <a:noFill/>
          <a:ln w="0">
            <a:noFill/>
          </a:ln>
        </p:spPr>
        <p:txBody>
          <a:bodyPr anchor="ctr">
            <a:noAutofit/>
          </a:bodyPr>
          <a:lstStyle/>
          <a:p>
            <a:pPr>
              <a:defRPr sz="1725" b="0">
                <a:solidFill>
                  <a:srgbClr val="3A2922"/>
                </a:solidFill>
                <a:latin typeface="Arial"/>
                <a:ea typeface="Arial"/>
                <a:cs typeface="Arial"/>
              </a:defRPr>
            </a:pPr>
            <a:r>
              <a:rPr sz="1725" b="0">
                <a:solidFill>
                  <a:srgbClr val="3A2922"/>
                </a:solidFill>
                <a:latin typeface="Arial"/>
                <a:ea typeface="Arial"/>
                <a:cs typeface="Arial"/>
              </a:rPr>
              <a:t>1. Định vị chỗ hổng 22/22 case, ngưỡng ≥90% đã chốt trước khi chạy. Ba bản luật khớp nhau 26/26.</a:t>
            </a:r>
          </a:p>
        </p:txBody>
      </p:sp>
      <p:sp>
        <p:nvSpPr>
          <p:cNvPr id="14" name="Hình chữ nhật 13">
            <a:extLst>
              <a:ext uri="{FF2B5EF4-FFF2-40B4-BE49-F238E27FC236}">
                <a16:creationId xmlns:a16="http://schemas.microsoft.com/office/drawing/2014/main" id="{EC320618-C031-47DC-853A-7D7BC589DF07}"/>
              </a:ext>
            </a:extLst>
          </p:cNvPr>
          <p:cNvSpPr>
            <a:spLocks noGrp="1"/>
          </p:cNvSpPr>
          <p:nvPr/>
        </p:nvSpPr>
        <p:spPr>
          <a:xfrm>
            <a:off x="533400" y="4657725"/>
            <a:ext cx="10906125" cy="428625"/>
          </a:xfrm>
          <a:prstGeom prst="rect">
            <a:avLst/>
          </a:prstGeom>
          <a:noFill/>
          <a:ln w="0">
            <a:noFill/>
          </a:ln>
        </p:spPr>
        <p:txBody>
          <a:bodyPr anchor="ctr">
            <a:noAutofit/>
          </a:bodyPr>
          <a:lstStyle/>
          <a:p>
            <a:pPr>
              <a:defRPr sz="1725" b="0">
                <a:solidFill>
                  <a:srgbClr val="3A2922"/>
                </a:solidFill>
                <a:latin typeface="Arial"/>
                <a:ea typeface="Arial"/>
                <a:cs typeface="Arial"/>
              </a:defRPr>
            </a:pPr>
            <a:r>
              <a:rPr sz="1725" b="0">
                <a:solidFill>
                  <a:srgbClr val="3A2922"/>
                </a:solidFill>
                <a:latin typeface="Arial"/>
                <a:ea typeface="Arial"/>
                <a:cs typeface="Arial"/>
              </a:rPr>
              <a:t>2. Dẫn nguồn 16/20 lượt AI thật = 80%, chưa đạt ngưỡng 90%. Điều kiện cứng giữ được: 0 lượt bịa mã đoạn.</a:t>
            </a:r>
          </a:p>
        </p:txBody>
      </p:sp>
      <p:sp>
        <p:nvSpPr>
          <p:cNvPr id="15" name="Hình chữ nhật 14">
            <a:extLst>
              <a:ext uri="{FF2B5EF4-FFF2-40B4-BE49-F238E27FC236}">
                <a16:creationId xmlns:a16="http://schemas.microsoft.com/office/drawing/2014/main" id="{8BFB1781-E18A-4FFD-A9E2-F8DABC2D7F63}"/>
              </a:ext>
            </a:extLst>
          </p:cNvPr>
          <p:cNvSpPr>
            <a:spLocks noGrp="1"/>
          </p:cNvSpPr>
          <p:nvPr/>
        </p:nvSpPr>
        <p:spPr>
          <a:xfrm>
            <a:off x="533400" y="5191125"/>
            <a:ext cx="10906125" cy="476250"/>
          </a:xfrm>
          <a:prstGeom prst="rect">
            <a:avLst/>
          </a:prstGeom>
          <a:noFill/>
          <a:ln w="0">
            <a:noFill/>
          </a:ln>
        </p:spPr>
        <p:txBody>
          <a:bodyPr anchor="ctr">
            <a:noAutofit/>
          </a:bodyPr>
          <a:lstStyle/>
          <a:p>
            <a:pPr>
              <a:defRPr sz="1725" b="0">
                <a:solidFill>
                  <a:srgbClr val="3A2922"/>
                </a:solidFill>
                <a:latin typeface="Arial"/>
                <a:ea typeface="Arial"/>
                <a:cs typeface="Arial"/>
              </a:defRPr>
            </a:pPr>
            <a:r>
              <a:rPr sz="1725" b="0">
                <a:solidFill>
                  <a:srgbClr val="3A2922"/>
                </a:solidFill>
                <a:latin typeface="Arial"/>
                <a:ea typeface="Arial"/>
                <a:cs typeface="Arial"/>
              </a:rPr>
              <a:t>3. Failure nặng nhất: 3 lượt trích mã đoạn có thật nhưng ngoài tư liệu được cấp, đều ở kịch bản “học lại cả bài”.</a:t>
            </a:r>
          </a:p>
        </p:txBody>
      </p:sp>
    </p:spTree>
    <p:extLst>
      <p:ext uri="{BB962C8B-B14F-4D97-AF65-F5344CB8AC3E}">
        <p14:creationId xmlns:p14="http://schemas.microsoft.com/office/powerpoint/2010/main" val="663819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7EF"/>
        </a:solidFill>
        <a:effectLst/>
      </p:bgPr>
    </p:bg>
    <p:spTree>
      <p:nvGrpSpPr>
        <p:cNvPr id="1" name=""/>
        <p:cNvGrpSpPr/>
        <p:nvPr/>
      </p:nvGrpSpPr>
      <p:grpSpPr>
        <a:xfrm>
          <a:off x="0" y="0"/>
          <a:ext cx="0" cy="0"/>
          <a:chOff x="0" y="0"/>
          <a:chExt cx="0" cy="0"/>
        </a:xfrm>
      </p:grpSpPr>
      <p:pic>
        <p:nvPicPr>
          <p:cNvPr id="15" name="Hình ảnh 14"/>
          <p:cNvPicPr>
            <a:picLocks noChangeAspect="1"/>
          </p:cNvPicPr>
          <p:nvPr/>
        </p:nvPicPr>
        <p:blipFill>
          <a:blip r:embed="rId3"/>
          <a:srcRect t="7813" b="7813"/>
          <a:stretch>
            <a:fillRect/>
          </a:stretch>
        </p:blipFill>
        <p:spPr>
          <a:xfrm>
            <a:off x="0" y="0"/>
            <a:ext cx="12192000" cy="6858000"/>
          </a:xfrm>
          <a:prstGeom prst="rect">
            <a:avLst/>
          </a:prstGeom>
        </p:spPr>
      </p:pic>
      <p:sp>
        <p:nvSpPr>
          <p:cNvPr id="2" name="Hình chữ nhật 1">
            <a:extLst>
              <a:ext uri="{FF2B5EF4-FFF2-40B4-BE49-F238E27FC236}">
                <a16:creationId xmlns:a16="http://schemas.microsoft.com/office/drawing/2014/main" id="{22FB2020-7474-49F3-8335-F9DA213F9BB3}"/>
              </a:ext>
            </a:extLst>
          </p:cNvPr>
          <p:cNvSpPr>
            <a:spLocks noGrp="1"/>
          </p:cNvSpPr>
          <p:nvPr/>
        </p:nvSpPr>
        <p:spPr>
          <a:xfrm>
            <a:off x="0" y="0"/>
            <a:ext cx="12192000" cy="6858000"/>
          </a:xfrm>
          <a:prstGeom prst="rect">
            <a:avLst/>
          </a:prstGeom>
          <a:solidFill>
            <a:srgbClr val="FCF7EF">
              <a:alpha val="87000"/>
            </a:srgbClr>
          </a:solidFill>
          <a:ln w="0">
            <a:noFill/>
          </a:ln>
        </p:spPr>
        <p:txBody>
          <a:bodyPr/>
          <a:lstStyle/>
          <a:p>
            <a:endParaRPr lang="en-US"/>
          </a:p>
        </p:txBody>
      </p:sp>
      <p:sp>
        <p:nvSpPr>
          <p:cNvPr id="3" name="Hình chữ nhật 2">
            <a:extLst>
              <a:ext uri="{FF2B5EF4-FFF2-40B4-BE49-F238E27FC236}">
                <a16:creationId xmlns:a16="http://schemas.microsoft.com/office/drawing/2014/main" id="{89636EF1-F603-4BD6-8833-E123DDE766FF}"/>
              </a:ext>
            </a:extLst>
          </p:cNvPr>
          <p:cNvSpPr>
            <a:spLocks noGrp="1"/>
          </p:cNvSpPr>
          <p:nvPr/>
        </p:nvSpPr>
        <p:spPr>
          <a:xfrm>
            <a:off x="533400" y="276225"/>
            <a:ext cx="7143750" cy="238125"/>
          </a:xfrm>
          <a:prstGeom prst="rect">
            <a:avLst/>
          </a:prstGeom>
          <a:noFill/>
          <a:ln w="0">
            <a:noFill/>
          </a:ln>
        </p:spPr>
        <p:txBody>
          <a:bodyPr anchor="ctr">
            <a:noAutofit/>
          </a:bodyPr>
          <a:lstStyle/>
          <a:p>
            <a:pPr>
              <a:defRPr sz="1050" b="1">
                <a:solidFill>
                  <a:srgbClr val="216C6D"/>
                </a:solidFill>
                <a:latin typeface="Arial"/>
                <a:ea typeface="Arial"/>
                <a:cs typeface="Arial"/>
              </a:defRPr>
            </a:pPr>
            <a:r>
              <a:rPr sz="1050" b="1">
                <a:solidFill>
                  <a:srgbClr val="216C6D"/>
                </a:solidFill>
                <a:latin typeface="Arial"/>
                <a:ea typeface="Arial"/>
                <a:cs typeface="Arial"/>
              </a:rPr>
              <a:t>COLDBREW QUIZZ  /  05</a:t>
            </a:r>
          </a:p>
        </p:txBody>
      </p:sp>
      <p:sp>
        <p:nvSpPr>
          <p:cNvPr id="4" name="Hình chữ nhật 3">
            <a:extLst>
              <a:ext uri="{FF2B5EF4-FFF2-40B4-BE49-F238E27FC236}">
                <a16:creationId xmlns:a16="http://schemas.microsoft.com/office/drawing/2014/main" id="{EDC1F8E8-2D82-409B-BAD9-FBE92623C000}"/>
              </a:ext>
            </a:extLst>
          </p:cNvPr>
          <p:cNvSpPr>
            <a:spLocks noGrp="1"/>
          </p:cNvSpPr>
          <p:nvPr/>
        </p:nvSpPr>
        <p:spPr>
          <a:xfrm>
            <a:off x="533400" y="704850"/>
            <a:ext cx="11125200" cy="666750"/>
          </a:xfrm>
          <a:prstGeom prst="rect">
            <a:avLst/>
          </a:prstGeom>
          <a:noFill/>
          <a:ln w="0">
            <a:noFill/>
          </a:ln>
        </p:spPr>
        <p:txBody>
          <a:bodyPr anchor="ctr">
            <a:noAutofit/>
          </a:bodyPr>
          <a:lstStyle/>
          <a:p>
            <a:pPr>
              <a:defRPr sz="3150" b="1">
                <a:solidFill>
                  <a:srgbClr val="3A2922"/>
                </a:solidFill>
                <a:latin typeface="Arial"/>
                <a:ea typeface="Arial"/>
                <a:cs typeface="Arial"/>
              </a:defRPr>
            </a:pPr>
            <a:r>
              <a:rPr sz="3150" b="1">
                <a:solidFill>
                  <a:srgbClr val="3A2922"/>
                </a:solidFill>
                <a:latin typeface="Arial"/>
                <a:ea typeface="Arial"/>
                <a:cs typeface="Arial"/>
              </a:rPr>
              <a:t>User thật nói gì: chưa có quote validation</a:t>
            </a:r>
          </a:p>
        </p:txBody>
      </p:sp>
      <p:sp>
        <p:nvSpPr>
          <p:cNvPr id="5" name="Hình chữ nhật 4">
            <a:extLst>
              <a:ext uri="{FF2B5EF4-FFF2-40B4-BE49-F238E27FC236}">
                <a16:creationId xmlns:a16="http://schemas.microsoft.com/office/drawing/2014/main" id="{E4BCD505-5473-481A-BBCA-FDE757E7D0D6}"/>
              </a:ext>
            </a:extLst>
          </p:cNvPr>
          <p:cNvSpPr>
            <a:spLocks noGrp="1"/>
          </p:cNvSpPr>
          <p:nvPr/>
        </p:nvSpPr>
        <p:spPr>
          <a:xfrm>
            <a:off x="533400" y="1409700"/>
            <a:ext cx="11125200" cy="19050"/>
          </a:xfrm>
          <a:prstGeom prst="rect">
            <a:avLst/>
          </a:prstGeom>
          <a:solidFill>
            <a:srgbClr val="D9CABE"/>
          </a:solidFill>
          <a:ln w="0">
            <a:noFill/>
          </a:ln>
        </p:spPr>
        <p:txBody>
          <a:bodyPr/>
          <a:lstStyle/>
          <a:p>
            <a:endParaRPr lang="en-US"/>
          </a:p>
        </p:txBody>
      </p:sp>
      <p:sp>
        <p:nvSpPr>
          <p:cNvPr id="6" name="Hình chữ nhật 5">
            <a:extLst>
              <a:ext uri="{FF2B5EF4-FFF2-40B4-BE49-F238E27FC236}">
                <a16:creationId xmlns:a16="http://schemas.microsoft.com/office/drawing/2014/main" id="{E5739ACD-3AA3-4335-B5D5-A559B9A021D8}"/>
              </a:ext>
            </a:extLst>
          </p:cNvPr>
          <p:cNvSpPr>
            <a:spLocks noGrp="1"/>
          </p:cNvSpPr>
          <p:nvPr/>
        </p:nvSpPr>
        <p:spPr>
          <a:xfrm>
            <a:off x="10934700" y="6353175"/>
            <a:ext cx="762000" cy="238125"/>
          </a:xfrm>
          <a:prstGeom prst="rect">
            <a:avLst/>
          </a:prstGeom>
          <a:noFill/>
          <a:ln w="0">
            <a:noFill/>
          </a:ln>
        </p:spPr>
        <p:txBody>
          <a:bodyPr anchor="ctr">
            <a:noAutofit/>
          </a:bodyPr>
          <a:lstStyle/>
          <a:p>
            <a:pPr>
              <a:defRPr sz="1050" b="1">
                <a:solidFill>
                  <a:srgbClr val="C16B40"/>
                </a:solidFill>
                <a:latin typeface="Arial"/>
                <a:ea typeface="Arial"/>
                <a:cs typeface="Arial"/>
              </a:defRPr>
            </a:pPr>
            <a:r>
              <a:rPr sz="1050" b="1">
                <a:solidFill>
                  <a:srgbClr val="C16B40"/>
                </a:solidFill>
                <a:latin typeface="Arial"/>
                <a:ea typeface="Arial"/>
                <a:cs typeface="Arial"/>
              </a:rPr>
              <a:t>45″</a:t>
            </a:r>
          </a:p>
        </p:txBody>
      </p:sp>
      <p:sp>
        <p:nvSpPr>
          <p:cNvPr id="7" name="Hình chữ nhật 6">
            <a:extLst>
              <a:ext uri="{FF2B5EF4-FFF2-40B4-BE49-F238E27FC236}">
                <a16:creationId xmlns:a16="http://schemas.microsoft.com/office/drawing/2014/main" id="{97BDA1DE-7BBC-49EA-B1C4-12DA43DCFA63}"/>
              </a:ext>
            </a:extLst>
          </p:cNvPr>
          <p:cNvSpPr>
            <a:spLocks noGrp="1"/>
          </p:cNvSpPr>
          <p:nvPr/>
        </p:nvSpPr>
        <p:spPr>
          <a:xfrm>
            <a:off x="533400" y="1809750"/>
            <a:ext cx="2857500" cy="790575"/>
          </a:xfrm>
          <a:prstGeom prst="rect">
            <a:avLst/>
          </a:prstGeom>
          <a:noFill/>
          <a:ln w="0">
            <a:noFill/>
          </a:ln>
        </p:spPr>
        <p:txBody>
          <a:bodyPr anchor="ctr">
            <a:noAutofit/>
          </a:bodyPr>
          <a:lstStyle/>
          <a:p>
            <a:pPr>
              <a:defRPr sz="5100" b="1">
                <a:solidFill>
                  <a:srgbClr val="C16B40"/>
                </a:solidFill>
                <a:latin typeface="Arial"/>
                <a:ea typeface="Arial"/>
                <a:cs typeface="Arial"/>
              </a:defRPr>
            </a:pPr>
            <a:r>
              <a:rPr sz="5100" b="1">
                <a:solidFill>
                  <a:srgbClr val="C16B40"/>
                </a:solidFill>
                <a:latin typeface="Arial"/>
                <a:ea typeface="Arial"/>
                <a:cs typeface="Arial"/>
              </a:rPr>
              <a:t>17/31</a:t>
            </a:r>
          </a:p>
        </p:txBody>
      </p:sp>
      <p:sp>
        <p:nvSpPr>
          <p:cNvPr id="8" name="Hình chữ nhật 7">
            <a:extLst>
              <a:ext uri="{FF2B5EF4-FFF2-40B4-BE49-F238E27FC236}">
                <a16:creationId xmlns:a16="http://schemas.microsoft.com/office/drawing/2014/main" id="{6CD8A493-D046-4EF5-B3D0-57AD4425053D}"/>
              </a:ext>
            </a:extLst>
          </p:cNvPr>
          <p:cNvSpPr>
            <a:spLocks noGrp="1"/>
          </p:cNvSpPr>
          <p:nvPr/>
        </p:nvSpPr>
        <p:spPr>
          <a:xfrm>
            <a:off x="533400" y="2638425"/>
            <a:ext cx="5191125" cy="762000"/>
          </a:xfrm>
          <a:prstGeom prst="rect">
            <a:avLst/>
          </a:prstGeom>
          <a:noFill/>
          <a:ln w="0">
            <a:noFill/>
          </a:ln>
        </p:spPr>
        <p:txBody>
          <a:bodyPr anchor="ctr">
            <a:noAutofit/>
          </a:bodyPr>
          <a:lstStyle/>
          <a:p>
            <a:pPr>
              <a:defRPr sz="2100" b="0">
                <a:solidFill>
                  <a:srgbClr val="3A2922"/>
                </a:solidFill>
                <a:latin typeface="Arial"/>
                <a:ea typeface="Arial"/>
                <a:cs typeface="Arial"/>
              </a:defRPr>
            </a:pPr>
            <a:r>
              <a:rPr sz="2100" b="0">
                <a:solidFill>
                  <a:srgbClr val="3A2922"/>
                </a:solidFill>
                <a:latin typeface="Arial"/>
                <a:ea typeface="Arial"/>
                <a:cs typeface="Arial"/>
              </a:rPr>
              <a:t>chọn “Không biết mình thiếu kiến thức nào”</a:t>
            </a:r>
          </a:p>
        </p:txBody>
      </p:sp>
      <p:sp>
        <p:nvSpPr>
          <p:cNvPr id="9" name="Hình chữ nhật 8">
            <a:extLst>
              <a:ext uri="{FF2B5EF4-FFF2-40B4-BE49-F238E27FC236}">
                <a16:creationId xmlns:a16="http://schemas.microsoft.com/office/drawing/2014/main" id="{5FC85A24-F69E-4171-90AD-136BA8698BFC}"/>
              </a:ext>
            </a:extLst>
          </p:cNvPr>
          <p:cNvSpPr>
            <a:spLocks noGrp="1"/>
          </p:cNvSpPr>
          <p:nvPr/>
        </p:nvSpPr>
        <p:spPr>
          <a:xfrm>
            <a:off x="6324600" y="1809750"/>
            <a:ext cx="2857500" cy="790575"/>
          </a:xfrm>
          <a:prstGeom prst="rect">
            <a:avLst/>
          </a:prstGeom>
          <a:noFill/>
          <a:ln w="0">
            <a:noFill/>
          </a:ln>
        </p:spPr>
        <p:txBody>
          <a:bodyPr anchor="ctr">
            <a:noAutofit/>
          </a:bodyPr>
          <a:lstStyle/>
          <a:p>
            <a:pPr>
              <a:defRPr sz="5100" b="1">
                <a:solidFill>
                  <a:srgbClr val="216C6D"/>
                </a:solidFill>
                <a:latin typeface="Arial"/>
                <a:ea typeface="Arial"/>
                <a:cs typeface="Arial"/>
              </a:defRPr>
            </a:pPr>
            <a:r>
              <a:rPr sz="5100" b="1">
                <a:solidFill>
                  <a:srgbClr val="216C6D"/>
                </a:solidFill>
                <a:latin typeface="Arial"/>
                <a:ea typeface="Arial"/>
                <a:cs typeface="Arial"/>
              </a:rPr>
              <a:t>15/31</a:t>
            </a:r>
          </a:p>
        </p:txBody>
      </p:sp>
      <p:sp>
        <p:nvSpPr>
          <p:cNvPr id="10" name="Hình chữ nhật 9">
            <a:extLst>
              <a:ext uri="{FF2B5EF4-FFF2-40B4-BE49-F238E27FC236}">
                <a16:creationId xmlns:a16="http://schemas.microsoft.com/office/drawing/2014/main" id="{FBBB96DC-5F52-4704-95D4-34681305F1F4}"/>
              </a:ext>
            </a:extLst>
          </p:cNvPr>
          <p:cNvSpPr>
            <a:spLocks noGrp="1"/>
          </p:cNvSpPr>
          <p:nvPr/>
        </p:nvSpPr>
        <p:spPr>
          <a:xfrm>
            <a:off x="6324600" y="2638425"/>
            <a:ext cx="5286375" cy="857250"/>
          </a:xfrm>
          <a:prstGeom prst="rect">
            <a:avLst/>
          </a:prstGeom>
          <a:noFill/>
          <a:ln w="0">
            <a:noFill/>
          </a:ln>
        </p:spPr>
        <p:txBody>
          <a:bodyPr anchor="ctr">
            <a:noAutofit/>
          </a:bodyPr>
          <a:lstStyle/>
          <a:p>
            <a:pPr>
              <a:defRPr sz="2100" b="0">
                <a:solidFill>
                  <a:srgbClr val="3A2922"/>
                </a:solidFill>
                <a:latin typeface="Arial"/>
                <a:ea typeface="Arial"/>
                <a:cs typeface="Arial"/>
              </a:defRPr>
            </a:pPr>
            <a:r>
              <a:rPr sz="2100" b="0">
                <a:solidFill>
                  <a:srgbClr val="3A2922"/>
                </a:solidFill>
                <a:latin typeface="Arial"/>
                <a:ea typeface="Arial"/>
                <a:cs typeface="Arial"/>
              </a:rPr>
              <a:t>chọn “Không biết kiến thức nằm ở đâu trong tài liệu”</a:t>
            </a:r>
          </a:p>
        </p:txBody>
      </p:sp>
      <p:sp>
        <p:nvSpPr>
          <p:cNvPr id="11" name="Hình chữ nhật 10">
            <a:extLst>
              <a:ext uri="{FF2B5EF4-FFF2-40B4-BE49-F238E27FC236}">
                <a16:creationId xmlns:a16="http://schemas.microsoft.com/office/drawing/2014/main" id="{97FF4C9C-B372-4D67-A930-9285F763CC07}"/>
              </a:ext>
            </a:extLst>
          </p:cNvPr>
          <p:cNvSpPr>
            <a:spLocks noGrp="1"/>
          </p:cNvSpPr>
          <p:nvPr/>
        </p:nvSpPr>
        <p:spPr>
          <a:xfrm>
            <a:off x="533400" y="3724275"/>
            <a:ext cx="11125200" cy="19050"/>
          </a:xfrm>
          <a:prstGeom prst="rect">
            <a:avLst/>
          </a:prstGeom>
          <a:solidFill>
            <a:srgbClr val="D9CABE"/>
          </a:solidFill>
          <a:ln w="0">
            <a:noFill/>
          </a:ln>
        </p:spPr>
        <p:txBody>
          <a:bodyPr/>
          <a:lstStyle/>
          <a:p>
            <a:endParaRPr lang="en-US"/>
          </a:p>
        </p:txBody>
      </p:sp>
      <p:sp>
        <p:nvSpPr>
          <p:cNvPr id="12" name="Hình chữ nhật 11">
            <a:extLst>
              <a:ext uri="{FF2B5EF4-FFF2-40B4-BE49-F238E27FC236}">
                <a16:creationId xmlns:a16="http://schemas.microsoft.com/office/drawing/2014/main" id="{A44E73E6-7534-4B74-A0DB-88FB1C8F0653}"/>
              </a:ext>
            </a:extLst>
          </p:cNvPr>
          <p:cNvSpPr>
            <a:spLocks noGrp="1"/>
          </p:cNvSpPr>
          <p:nvPr/>
        </p:nvSpPr>
        <p:spPr>
          <a:xfrm>
            <a:off x="533400" y="4000500"/>
            <a:ext cx="5715000" cy="381000"/>
          </a:xfrm>
          <a:prstGeom prst="rect">
            <a:avLst/>
          </a:prstGeom>
          <a:noFill/>
          <a:ln w="0">
            <a:noFill/>
          </a:ln>
        </p:spPr>
        <p:txBody>
          <a:bodyPr anchor="ctr">
            <a:noAutofit/>
          </a:bodyPr>
          <a:lstStyle/>
          <a:p>
            <a:pPr>
              <a:defRPr sz="2025" b="1">
                <a:solidFill>
                  <a:srgbClr val="80533A"/>
                </a:solidFill>
                <a:latin typeface="Arial"/>
                <a:ea typeface="Arial"/>
                <a:cs typeface="Arial"/>
              </a:defRPr>
            </a:pPr>
            <a:r>
              <a:rPr sz="2025" b="1">
                <a:solidFill>
                  <a:srgbClr val="80533A"/>
                </a:solidFill>
                <a:latin typeface="Arial"/>
                <a:ea typeface="Arial"/>
                <a:cs typeface="Arial"/>
              </a:rPr>
              <a:t>Thay đổi trong thiết kế</a:t>
            </a:r>
          </a:p>
        </p:txBody>
      </p:sp>
      <p:sp>
        <p:nvSpPr>
          <p:cNvPr id="13" name="Hình chữ nhật 12">
            <a:extLst>
              <a:ext uri="{FF2B5EF4-FFF2-40B4-BE49-F238E27FC236}">
                <a16:creationId xmlns:a16="http://schemas.microsoft.com/office/drawing/2014/main" id="{3E093961-5B04-4192-872F-9738B433CCCA}"/>
              </a:ext>
            </a:extLst>
          </p:cNvPr>
          <p:cNvSpPr>
            <a:spLocks noGrp="1"/>
          </p:cNvSpPr>
          <p:nvPr/>
        </p:nvSpPr>
        <p:spPr>
          <a:xfrm>
            <a:off x="533400" y="4467225"/>
            <a:ext cx="10810875" cy="857250"/>
          </a:xfrm>
          <a:prstGeom prst="rect">
            <a:avLst/>
          </a:prstGeom>
          <a:noFill/>
          <a:ln w="0">
            <a:noFill/>
          </a:ln>
        </p:spPr>
        <p:txBody>
          <a:bodyPr anchor="ctr">
            <a:noAutofit/>
          </a:bodyPr>
          <a:lstStyle/>
          <a:p>
            <a:pPr>
              <a:defRPr sz="2100" b="0">
                <a:solidFill>
                  <a:srgbClr val="3A2922"/>
                </a:solidFill>
                <a:latin typeface="Arial"/>
                <a:ea typeface="Arial"/>
                <a:cs typeface="Arial"/>
              </a:defRPr>
            </a:pPr>
            <a:r>
              <a:rPr sz="2100" b="0">
                <a:solidFill>
                  <a:srgbClr val="3A2922"/>
                </a:solidFill>
                <a:latin typeface="Arial"/>
                <a:ea typeface="Arial"/>
                <a:cs typeface="Arial"/>
              </a:rPr>
              <a:t>Sau câu sai, chỉ concept cần ôn và dẫn về đoạn bài giảng bấm ra nguyên văn; đề nền AI soạn mới mỗi vòng; sai nhiều mục thì học viên tự chọn ôn mục nào, bỏ mục nào.</a:t>
            </a:r>
          </a:p>
        </p:txBody>
      </p:sp>
      <p:sp>
        <p:nvSpPr>
          <p:cNvPr id="14" name="Hình chữ nhật 13">
            <a:extLst>
              <a:ext uri="{FF2B5EF4-FFF2-40B4-BE49-F238E27FC236}">
                <a16:creationId xmlns:a16="http://schemas.microsoft.com/office/drawing/2014/main" id="{4D27C754-CA95-423B-9A66-FD52B8EF80BD}"/>
              </a:ext>
            </a:extLst>
          </p:cNvPr>
          <p:cNvSpPr>
            <a:spLocks noGrp="1"/>
          </p:cNvSpPr>
          <p:nvPr/>
        </p:nvSpPr>
        <p:spPr>
          <a:xfrm>
            <a:off x="533400" y="5600700"/>
            <a:ext cx="10858500" cy="457200"/>
          </a:xfrm>
          <a:prstGeom prst="rect">
            <a:avLst/>
          </a:prstGeom>
          <a:noFill/>
          <a:ln w="0">
            <a:noFill/>
          </a:ln>
        </p:spPr>
        <p:txBody>
          <a:bodyPr anchor="ctr">
            <a:noAutofit/>
          </a:bodyPr>
          <a:lstStyle/>
          <a:p>
            <a:pPr>
              <a:defRPr sz="1575" b="1">
                <a:solidFill>
                  <a:srgbClr val="AE433B"/>
                </a:solidFill>
                <a:latin typeface="Arial"/>
                <a:ea typeface="Arial"/>
                <a:cs typeface="Arial"/>
              </a:defRPr>
            </a:pPr>
            <a:r>
              <a:rPr sz="1575" b="1">
                <a:solidFill>
                  <a:srgbClr val="AE433B"/>
                </a:solidFill>
                <a:latin typeface="Arial"/>
                <a:ea typeface="Arial"/>
                <a:cs typeface="Arial"/>
              </a:rPr>
              <a:t>Cần bổ sung: 2 quote nguyên văn từ người dùng thử, kèm tên/vai và thay đổi cụ thể sau mỗi quote.</a:t>
            </a:r>
          </a:p>
        </p:txBody>
      </p:sp>
    </p:spTree>
    <p:extLst>
      <p:ext uri="{BB962C8B-B14F-4D97-AF65-F5344CB8AC3E}">
        <p14:creationId xmlns:p14="http://schemas.microsoft.com/office/powerpoint/2010/main" val="466273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7EF"/>
        </a:solidFill>
        <a:effectLst/>
      </p:bgPr>
    </p:bg>
    <p:spTree>
      <p:nvGrpSpPr>
        <p:cNvPr id="1" name=""/>
        <p:cNvGrpSpPr/>
        <p:nvPr/>
      </p:nvGrpSpPr>
      <p:grpSpPr>
        <a:xfrm>
          <a:off x="0" y="0"/>
          <a:ext cx="0" cy="0"/>
          <a:chOff x="0" y="0"/>
          <a:chExt cx="0" cy="0"/>
        </a:xfrm>
      </p:grpSpPr>
      <p:pic>
        <p:nvPicPr>
          <p:cNvPr id="19" name="Hình ảnh 18"/>
          <p:cNvPicPr>
            <a:picLocks noChangeAspect="1"/>
          </p:cNvPicPr>
          <p:nvPr/>
        </p:nvPicPr>
        <p:blipFill>
          <a:blip r:embed="rId3"/>
          <a:srcRect t="7813" b="7813"/>
          <a:stretch>
            <a:fillRect/>
          </a:stretch>
        </p:blipFill>
        <p:spPr>
          <a:xfrm>
            <a:off x="0" y="0"/>
            <a:ext cx="12192000" cy="6858000"/>
          </a:xfrm>
          <a:prstGeom prst="rect">
            <a:avLst/>
          </a:prstGeom>
        </p:spPr>
      </p:pic>
      <p:sp>
        <p:nvSpPr>
          <p:cNvPr id="2" name="Hình chữ nhật 1">
            <a:extLst>
              <a:ext uri="{FF2B5EF4-FFF2-40B4-BE49-F238E27FC236}">
                <a16:creationId xmlns:a16="http://schemas.microsoft.com/office/drawing/2014/main" id="{56F98BCC-CCA2-4315-B757-54D7932A24D6}"/>
              </a:ext>
            </a:extLst>
          </p:cNvPr>
          <p:cNvSpPr>
            <a:spLocks noGrp="1"/>
          </p:cNvSpPr>
          <p:nvPr/>
        </p:nvSpPr>
        <p:spPr>
          <a:xfrm>
            <a:off x="0" y="0"/>
            <a:ext cx="12192000" cy="6858000"/>
          </a:xfrm>
          <a:prstGeom prst="rect">
            <a:avLst/>
          </a:prstGeom>
          <a:solidFill>
            <a:srgbClr val="FCF7EF">
              <a:alpha val="87000"/>
            </a:srgbClr>
          </a:solidFill>
          <a:ln w="0">
            <a:noFill/>
          </a:ln>
        </p:spPr>
        <p:txBody>
          <a:bodyPr/>
          <a:lstStyle/>
          <a:p>
            <a:endParaRPr lang="en-US"/>
          </a:p>
        </p:txBody>
      </p:sp>
      <p:sp>
        <p:nvSpPr>
          <p:cNvPr id="3" name="Hình chữ nhật 2">
            <a:extLst>
              <a:ext uri="{FF2B5EF4-FFF2-40B4-BE49-F238E27FC236}">
                <a16:creationId xmlns:a16="http://schemas.microsoft.com/office/drawing/2014/main" id="{055C77E1-27B7-4B6A-9E28-DCFA4C8A3F7A}"/>
              </a:ext>
            </a:extLst>
          </p:cNvPr>
          <p:cNvSpPr>
            <a:spLocks noGrp="1"/>
          </p:cNvSpPr>
          <p:nvPr/>
        </p:nvSpPr>
        <p:spPr>
          <a:xfrm>
            <a:off x="533400" y="276225"/>
            <a:ext cx="7143750" cy="238125"/>
          </a:xfrm>
          <a:prstGeom prst="rect">
            <a:avLst/>
          </a:prstGeom>
          <a:noFill/>
          <a:ln w="0">
            <a:noFill/>
          </a:ln>
        </p:spPr>
        <p:txBody>
          <a:bodyPr anchor="ctr">
            <a:noAutofit/>
          </a:bodyPr>
          <a:lstStyle/>
          <a:p>
            <a:pPr>
              <a:defRPr sz="1050" b="1">
                <a:solidFill>
                  <a:srgbClr val="216C6D"/>
                </a:solidFill>
                <a:latin typeface="Arial"/>
                <a:ea typeface="Arial"/>
                <a:cs typeface="Arial"/>
              </a:defRPr>
            </a:pPr>
            <a:r>
              <a:rPr sz="1050" b="1">
                <a:solidFill>
                  <a:srgbClr val="216C6D"/>
                </a:solidFill>
                <a:latin typeface="Arial"/>
                <a:ea typeface="Arial"/>
                <a:cs typeface="Arial"/>
              </a:rPr>
              <a:t>COLDBREW QUIZZ  /  06</a:t>
            </a:r>
          </a:p>
        </p:txBody>
      </p:sp>
      <p:sp>
        <p:nvSpPr>
          <p:cNvPr id="4" name="Hình chữ nhật 3">
            <a:extLst>
              <a:ext uri="{FF2B5EF4-FFF2-40B4-BE49-F238E27FC236}">
                <a16:creationId xmlns:a16="http://schemas.microsoft.com/office/drawing/2014/main" id="{64DE412B-B99B-4879-B9CC-51A8EA5C0D1C}"/>
              </a:ext>
            </a:extLst>
          </p:cNvPr>
          <p:cNvSpPr>
            <a:spLocks noGrp="1"/>
          </p:cNvSpPr>
          <p:nvPr/>
        </p:nvSpPr>
        <p:spPr>
          <a:xfrm>
            <a:off x="533400" y="704850"/>
            <a:ext cx="11125200" cy="666750"/>
          </a:xfrm>
          <a:prstGeom prst="rect">
            <a:avLst/>
          </a:prstGeom>
          <a:noFill/>
          <a:ln w="0">
            <a:noFill/>
          </a:ln>
        </p:spPr>
        <p:txBody>
          <a:bodyPr anchor="ctr">
            <a:noAutofit/>
          </a:bodyPr>
          <a:lstStyle/>
          <a:p>
            <a:pPr>
              <a:defRPr sz="3150" b="1">
                <a:solidFill>
                  <a:srgbClr val="3A2922"/>
                </a:solidFill>
                <a:latin typeface="Arial"/>
                <a:ea typeface="Arial"/>
                <a:cs typeface="Arial"/>
              </a:defRPr>
            </a:pPr>
            <a:r>
              <a:rPr sz="3150" b="1">
                <a:solidFill>
                  <a:srgbClr val="3A2922"/>
                </a:solidFill>
                <a:latin typeface="Arial"/>
                <a:ea typeface="Arial"/>
                <a:cs typeface="Arial"/>
              </a:rPr>
              <a:t>Nếu có thêm 1 tuần</a:t>
            </a:r>
          </a:p>
        </p:txBody>
      </p:sp>
      <p:sp>
        <p:nvSpPr>
          <p:cNvPr id="5" name="Hình chữ nhật 4">
            <a:extLst>
              <a:ext uri="{FF2B5EF4-FFF2-40B4-BE49-F238E27FC236}">
                <a16:creationId xmlns:a16="http://schemas.microsoft.com/office/drawing/2014/main" id="{19BD830F-5D3A-4C5A-A5EB-861BE057C77A}"/>
              </a:ext>
            </a:extLst>
          </p:cNvPr>
          <p:cNvSpPr>
            <a:spLocks noGrp="1"/>
          </p:cNvSpPr>
          <p:nvPr/>
        </p:nvSpPr>
        <p:spPr>
          <a:xfrm>
            <a:off x="533400" y="1409700"/>
            <a:ext cx="11125200" cy="19050"/>
          </a:xfrm>
          <a:prstGeom prst="rect">
            <a:avLst/>
          </a:prstGeom>
          <a:solidFill>
            <a:srgbClr val="D9CABE"/>
          </a:solidFill>
          <a:ln w="0">
            <a:noFill/>
          </a:ln>
        </p:spPr>
        <p:txBody>
          <a:bodyPr/>
          <a:lstStyle/>
          <a:p>
            <a:endParaRPr lang="en-US"/>
          </a:p>
        </p:txBody>
      </p:sp>
      <p:sp>
        <p:nvSpPr>
          <p:cNvPr id="6" name="Hình chữ nhật 5">
            <a:extLst>
              <a:ext uri="{FF2B5EF4-FFF2-40B4-BE49-F238E27FC236}">
                <a16:creationId xmlns:a16="http://schemas.microsoft.com/office/drawing/2014/main" id="{0C8EA472-6447-4F4A-A8FE-BDB6635DFE66}"/>
              </a:ext>
            </a:extLst>
          </p:cNvPr>
          <p:cNvSpPr>
            <a:spLocks noGrp="1"/>
          </p:cNvSpPr>
          <p:nvPr/>
        </p:nvSpPr>
        <p:spPr>
          <a:xfrm>
            <a:off x="10934700" y="6353175"/>
            <a:ext cx="762000" cy="238125"/>
          </a:xfrm>
          <a:prstGeom prst="rect">
            <a:avLst/>
          </a:prstGeom>
          <a:noFill/>
          <a:ln w="0">
            <a:noFill/>
          </a:ln>
        </p:spPr>
        <p:txBody>
          <a:bodyPr anchor="ctr">
            <a:noAutofit/>
          </a:bodyPr>
          <a:lstStyle/>
          <a:p>
            <a:pPr>
              <a:defRPr sz="1050" b="1">
                <a:solidFill>
                  <a:srgbClr val="C16B40"/>
                </a:solidFill>
                <a:latin typeface="Arial"/>
                <a:ea typeface="Arial"/>
                <a:cs typeface="Arial"/>
              </a:defRPr>
            </a:pPr>
            <a:r>
              <a:rPr sz="1050" b="1">
                <a:solidFill>
                  <a:srgbClr val="C16B40"/>
                </a:solidFill>
                <a:latin typeface="Arial"/>
                <a:ea typeface="Arial"/>
                <a:cs typeface="Arial"/>
              </a:rPr>
              <a:t>30″</a:t>
            </a:r>
          </a:p>
        </p:txBody>
      </p:sp>
      <p:sp>
        <p:nvSpPr>
          <p:cNvPr id="7" name="Hình chữ nhật 6">
            <a:extLst>
              <a:ext uri="{FF2B5EF4-FFF2-40B4-BE49-F238E27FC236}">
                <a16:creationId xmlns:a16="http://schemas.microsoft.com/office/drawing/2014/main" id="{DC12CDFA-AACB-4A22-8CCB-1B1B01B31103}"/>
              </a:ext>
            </a:extLst>
          </p:cNvPr>
          <p:cNvSpPr>
            <a:spLocks noGrp="1"/>
          </p:cNvSpPr>
          <p:nvPr/>
        </p:nvSpPr>
        <p:spPr>
          <a:xfrm>
            <a:off x="533400" y="1809750"/>
            <a:ext cx="571500" cy="571500"/>
          </a:xfrm>
          <a:prstGeom prst="rect">
            <a:avLst/>
          </a:prstGeom>
          <a:noFill/>
          <a:ln w="0">
            <a:noFill/>
          </a:ln>
        </p:spPr>
        <p:txBody>
          <a:bodyPr anchor="ctr">
            <a:noAutofit/>
          </a:bodyPr>
          <a:lstStyle/>
          <a:p>
            <a:pPr>
              <a:defRPr sz="3975" b="1">
                <a:solidFill>
                  <a:srgbClr val="C16B40"/>
                </a:solidFill>
                <a:latin typeface="Arial"/>
                <a:ea typeface="Arial"/>
                <a:cs typeface="Arial"/>
              </a:defRPr>
            </a:pPr>
            <a:r>
              <a:rPr sz="3975" b="1">
                <a:solidFill>
                  <a:srgbClr val="C16B40"/>
                </a:solidFill>
                <a:latin typeface="Arial"/>
                <a:ea typeface="Arial"/>
                <a:cs typeface="Arial"/>
              </a:rPr>
              <a:t>1</a:t>
            </a:r>
          </a:p>
        </p:txBody>
      </p:sp>
      <p:sp>
        <p:nvSpPr>
          <p:cNvPr id="8" name="Hình chữ nhật 7">
            <a:extLst>
              <a:ext uri="{FF2B5EF4-FFF2-40B4-BE49-F238E27FC236}">
                <a16:creationId xmlns:a16="http://schemas.microsoft.com/office/drawing/2014/main" id="{CB9492D2-D8FE-4E2F-883F-015C685B7C31}"/>
              </a:ext>
            </a:extLst>
          </p:cNvPr>
          <p:cNvSpPr>
            <a:spLocks noGrp="1"/>
          </p:cNvSpPr>
          <p:nvPr/>
        </p:nvSpPr>
        <p:spPr>
          <a:xfrm>
            <a:off x="1190625" y="1895475"/>
            <a:ext cx="9810750" cy="495300"/>
          </a:xfrm>
          <a:prstGeom prst="rect">
            <a:avLst/>
          </a:prstGeom>
          <a:noFill/>
          <a:ln w="0">
            <a:noFill/>
          </a:ln>
        </p:spPr>
        <p:txBody>
          <a:bodyPr anchor="ctr">
            <a:noAutofit/>
          </a:bodyPr>
          <a:lstStyle/>
          <a:p>
            <a:pPr>
              <a:defRPr sz="2400" b="1">
                <a:solidFill>
                  <a:srgbClr val="3A2922"/>
                </a:solidFill>
                <a:latin typeface="Arial"/>
                <a:ea typeface="Arial"/>
                <a:cs typeface="Arial"/>
              </a:defRPr>
            </a:pPr>
            <a:r>
              <a:rPr sz="2400" b="1">
                <a:solidFill>
                  <a:srgbClr val="3A2922"/>
                </a:solidFill>
                <a:latin typeface="Arial"/>
                <a:ea typeface="Arial"/>
                <a:cs typeface="Arial"/>
              </a:rPr>
              <a:t>Gán nhãn golden set cho đề AI sinh</a:t>
            </a:r>
          </a:p>
        </p:txBody>
      </p:sp>
      <p:sp>
        <p:nvSpPr>
          <p:cNvPr id="9" name="Hình chữ nhật 8">
            <a:extLst>
              <a:ext uri="{FF2B5EF4-FFF2-40B4-BE49-F238E27FC236}">
                <a16:creationId xmlns:a16="http://schemas.microsoft.com/office/drawing/2014/main" id="{DD474379-BC7C-49B3-A72D-6AF9D1E8ACA6}"/>
              </a:ext>
            </a:extLst>
          </p:cNvPr>
          <p:cNvSpPr>
            <a:spLocks noGrp="1"/>
          </p:cNvSpPr>
          <p:nvPr/>
        </p:nvSpPr>
        <p:spPr>
          <a:xfrm>
            <a:off x="1190625" y="2381250"/>
            <a:ext cx="9715500" cy="419100"/>
          </a:xfrm>
          <a:prstGeom prst="rect">
            <a:avLst/>
          </a:prstGeom>
          <a:noFill/>
          <a:ln w="0">
            <a:noFill/>
          </a:ln>
        </p:spPr>
        <p:txBody>
          <a:bodyPr anchor="ctr">
            <a:noAutofit/>
          </a:bodyPr>
          <a:lstStyle/>
          <a:p>
            <a:pPr>
              <a:defRPr sz="1725" b="0">
                <a:solidFill>
                  <a:srgbClr val="75675C"/>
                </a:solidFill>
                <a:latin typeface="Arial"/>
                <a:ea typeface="Arial"/>
                <a:cs typeface="Arial"/>
              </a:defRPr>
            </a:pPr>
            <a:r>
              <a:rPr sz="1725" b="0">
                <a:solidFill>
                  <a:srgbClr val="75675C"/>
                </a:solidFill>
                <a:latin typeface="Arial"/>
                <a:ea typeface="Arial"/>
                <a:cs typeface="Arial"/>
              </a:rPr>
              <a:t>Bộ case hiện vẫn chạy trên 5 câu quiz cũ, chưa phủ đề sinh theo phiên.</a:t>
            </a:r>
          </a:p>
        </p:txBody>
      </p:sp>
      <p:sp>
        <p:nvSpPr>
          <p:cNvPr id="10" name="Hình chữ nhật 9">
            <a:extLst>
              <a:ext uri="{FF2B5EF4-FFF2-40B4-BE49-F238E27FC236}">
                <a16:creationId xmlns:a16="http://schemas.microsoft.com/office/drawing/2014/main" id="{0E845516-7CCF-4B85-9948-C2B46EF6E5EE}"/>
              </a:ext>
            </a:extLst>
          </p:cNvPr>
          <p:cNvSpPr>
            <a:spLocks noGrp="1"/>
          </p:cNvSpPr>
          <p:nvPr/>
        </p:nvSpPr>
        <p:spPr>
          <a:xfrm>
            <a:off x="533400" y="2981325"/>
            <a:ext cx="11125200" cy="19050"/>
          </a:xfrm>
          <a:prstGeom prst="rect">
            <a:avLst/>
          </a:prstGeom>
          <a:solidFill>
            <a:srgbClr val="D9CABE"/>
          </a:solidFill>
          <a:ln w="0">
            <a:noFill/>
          </a:ln>
        </p:spPr>
        <p:txBody>
          <a:bodyPr/>
          <a:lstStyle/>
          <a:p>
            <a:endParaRPr lang="en-US"/>
          </a:p>
        </p:txBody>
      </p:sp>
      <p:sp>
        <p:nvSpPr>
          <p:cNvPr id="11" name="Hình chữ nhật 10">
            <a:extLst>
              <a:ext uri="{FF2B5EF4-FFF2-40B4-BE49-F238E27FC236}">
                <a16:creationId xmlns:a16="http://schemas.microsoft.com/office/drawing/2014/main" id="{AADFD49F-27FE-4F4C-B5C8-2489A806DDFA}"/>
              </a:ext>
            </a:extLst>
          </p:cNvPr>
          <p:cNvSpPr>
            <a:spLocks noGrp="1"/>
          </p:cNvSpPr>
          <p:nvPr/>
        </p:nvSpPr>
        <p:spPr>
          <a:xfrm>
            <a:off x="533400" y="3238500"/>
            <a:ext cx="571500" cy="571500"/>
          </a:xfrm>
          <a:prstGeom prst="rect">
            <a:avLst/>
          </a:prstGeom>
          <a:noFill/>
          <a:ln w="0">
            <a:noFill/>
          </a:ln>
        </p:spPr>
        <p:txBody>
          <a:bodyPr anchor="ctr">
            <a:noAutofit/>
          </a:bodyPr>
          <a:lstStyle/>
          <a:p>
            <a:pPr>
              <a:defRPr sz="3975" b="1">
                <a:solidFill>
                  <a:srgbClr val="C16B40"/>
                </a:solidFill>
                <a:latin typeface="Arial"/>
                <a:ea typeface="Arial"/>
                <a:cs typeface="Arial"/>
              </a:defRPr>
            </a:pPr>
            <a:r>
              <a:rPr sz="3975" b="1">
                <a:solidFill>
                  <a:srgbClr val="C16B40"/>
                </a:solidFill>
                <a:latin typeface="Arial"/>
                <a:ea typeface="Arial"/>
                <a:cs typeface="Arial"/>
              </a:rPr>
              <a:t>2</a:t>
            </a:r>
          </a:p>
        </p:txBody>
      </p:sp>
      <p:sp>
        <p:nvSpPr>
          <p:cNvPr id="12" name="Hình chữ nhật 11">
            <a:extLst>
              <a:ext uri="{FF2B5EF4-FFF2-40B4-BE49-F238E27FC236}">
                <a16:creationId xmlns:a16="http://schemas.microsoft.com/office/drawing/2014/main" id="{79AB5D4B-0FB1-4D4C-B7F2-FE01122E69DE}"/>
              </a:ext>
            </a:extLst>
          </p:cNvPr>
          <p:cNvSpPr>
            <a:spLocks noGrp="1"/>
          </p:cNvSpPr>
          <p:nvPr/>
        </p:nvSpPr>
        <p:spPr>
          <a:xfrm>
            <a:off x="1190625" y="3314700"/>
            <a:ext cx="9810750" cy="495300"/>
          </a:xfrm>
          <a:prstGeom prst="rect">
            <a:avLst/>
          </a:prstGeom>
          <a:noFill/>
          <a:ln w="0">
            <a:noFill/>
          </a:ln>
        </p:spPr>
        <p:txBody>
          <a:bodyPr anchor="ctr">
            <a:noAutofit/>
          </a:bodyPr>
          <a:lstStyle/>
          <a:p>
            <a:pPr>
              <a:defRPr sz="2400" b="1">
                <a:solidFill>
                  <a:srgbClr val="3A2922"/>
                </a:solidFill>
                <a:latin typeface="Arial"/>
                <a:ea typeface="Arial"/>
                <a:cs typeface="Arial"/>
              </a:defRPr>
            </a:pPr>
            <a:r>
              <a:rPr sz="2400" b="1">
                <a:solidFill>
                  <a:srgbClr val="3A2922"/>
                </a:solidFill>
                <a:latin typeface="Arial"/>
                <a:ea typeface="Arial"/>
                <a:cs typeface="Arial"/>
              </a:rPr>
              <a:t>Test case khó với sinh viên thật</a:t>
            </a:r>
          </a:p>
        </p:txBody>
      </p:sp>
      <p:sp>
        <p:nvSpPr>
          <p:cNvPr id="13" name="Hình chữ nhật 12">
            <a:extLst>
              <a:ext uri="{FF2B5EF4-FFF2-40B4-BE49-F238E27FC236}">
                <a16:creationId xmlns:a16="http://schemas.microsoft.com/office/drawing/2014/main" id="{9EFE5819-FF4F-4632-885C-5F3EDA555518}"/>
              </a:ext>
            </a:extLst>
          </p:cNvPr>
          <p:cNvSpPr>
            <a:spLocks noGrp="1"/>
          </p:cNvSpPr>
          <p:nvPr/>
        </p:nvSpPr>
        <p:spPr>
          <a:xfrm>
            <a:off x="1190625" y="3810000"/>
            <a:ext cx="9715500" cy="419100"/>
          </a:xfrm>
          <a:prstGeom prst="rect">
            <a:avLst/>
          </a:prstGeom>
          <a:noFill/>
          <a:ln w="0">
            <a:noFill/>
          </a:ln>
        </p:spPr>
        <p:txBody>
          <a:bodyPr anchor="ctr">
            <a:noAutofit/>
          </a:bodyPr>
          <a:lstStyle/>
          <a:p>
            <a:pPr>
              <a:defRPr sz="1725" b="0">
                <a:solidFill>
                  <a:srgbClr val="75675C"/>
                </a:solidFill>
                <a:latin typeface="Arial"/>
                <a:ea typeface="Arial"/>
                <a:cs typeface="Arial"/>
              </a:defRPr>
            </a:pPr>
            <a:r>
              <a:rPr sz="1725" b="0">
                <a:solidFill>
                  <a:srgbClr val="75675C"/>
                </a:solidFill>
                <a:latin typeface="Arial"/>
                <a:ea typeface="Arial"/>
                <a:cs typeface="Arial"/>
              </a:rPr>
              <a:t>Thu 2 quote nguyên văn và quan sát chỗ hệ thống chẩn đoán sai.</a:t>
            </a:r>
          </a:p>
        </p:txBody>
      </p:sp>
      <p:sp>
        <p:nvSpPr>
          <p:cNvPr id="14" name="Hình chữ nhật 13">
            <a:extLst>
              <a:ext uri="{FF2B5EF4-FFF2-40B4-BE49-F238E27FC236}">
                <a16:creationId xmlns:a16="http://schemas.microsoft.com/office/drawing/2014/main" id="{A5E9C9BB-C537-47B0-86D9-9696005A2C41}"/>
              </a:ext>
            </a:extLst>
          </p:cNvPr>
          <p:cNvSpPr>
            <a:spLocks noGrp="1"/>
          </p:cNvSpPr>
          <p:nvPr/>
        </p:nvSpPr>
        <p:spPr>
          <a:xfrm>
            <a:off x="533400" y="4410075"/>
            <a:ext cx="11125200" cy="19050"/>
          </a:xfrm>
          <a:prstGeom prst="rect">
            <a:avLst/>
          </a:prstGeom>
          <a:solidFill>
            <a:srgbClr val="D9CABE"/>
          </a:solidFill>
          <a:ln w="0">
            <a:noFill/>
          </a:ln>
        </p:spPr>
        <p:txBody>
          <a:bodyPr/>
          <a:lstStyle/>
          <a:p>
            <a:endParaRPr lang="en-US"/>
          </a:p>
        </p:txBody>
      </p:sp>
      <p:sp>
        <p:nvSpPr>
          <p:cNvPr id="15" name="Hình chữ nhật 14">
            <a:extLst>
              <a:ext uri="{FF2B5EF4-FFF2-40B4-BE49-F238E27FC236}">
                <a16:creationId xmlns:a16="http://schemas.microsoft.com/office/drawing/2014/main" id="{A85495B2-2F67-491A-BA75-BA3E994EC4BF}"/>
              </a:ext>
            </a:extLst>
          </p:cNvPr>
          <p:cNvSpPr>
            <a:spLocks noGrp="1"/>
          </p:cNvSpPr>
          <p:nvPr/>
        </p:nvSpPr>
        <p:spPr>
          <a:xfrm>
            <a:off x="533400" y="4667250"/>
            <a:ext cx="571500" cy="571500"/>
          </a:xfrm>
          <a:prstGeom prst="rect">
            <a:avLst/>
          </a:prstGeom>
          <a:noFill/>
          <a:ln w="0">
            <a:noFill/>
          </a:ln>
        </p:spPr>
        <p:txBody>
          <a:bodyPr anchor="ctr">
            <a:noAutofit/>
          </a:bodyPr>
          <a:lstStyle/>
          <a:p>
            <a:pPr>
              <a:defRPr sz="3975" b="1">
                <a:solidFill>
                  <a:srgbClr val="C16B40"/>
                </a:solidFill>
                <a:latin typeface="Arial"/>
                <a:ea typeface="Arial"/>
                <a:cs typeface="Arial"/>
              </a:defRPr>
            </a:pPr>
            <a:r>
              <a:rPr sz="3975" b="1">
                <a:solidFill>
                  <a:srgbClr val="C16B40"/>
                </a:solidFill>
                <a:latin typeface="Arial"/>
                <a:ea typeface="Arial"/>
                <a:cs typeface="Arial"/>
              </a:rPr>
              <a:t>3</a:t>
            </a:r>
          </a:p>
        </p:txBody>
      </p:sp>
      <p:sp>
        <p:nvSpPr>
          <p:cNvPr id="16" name="Hình chữ nhật 15">
            <a:extLst>
              <a:ext uri="{FF2B5EF4-FFF2-40B4-BE49-F238E27FC236}">
                <a16:creationId xmlns:a16="http://schemas.microsoft.com/office/drawing/2014/main" id="{C25F97E9-0E44-44F1-B873-03B9D187DC46}"/>
              </a:ext>
            </a:extLst>
          </p:cNvPr>
          <p:cNvSpPr>
            <a:spLocks noGrp="1"/>
          </p:cNvSpPr>
          <p:nvPr/>
        </p:nvSpPr>
        <p:spPr>
          <a:xfrm>
            <a:off x="1190625" y="4743450"/>
            <a:ext cx="9810750" cy="495300"/>
          </a:xfrm>
          <a:prstGeom prst="rect">
            <a:avLst/>
          </a:prstGeom>
          <a:noFill/>
          <a:ln w="0">
            <a:noFill/>
          </a:ln>
        </p:spPr>
        <p:txBody>
          <a:bodyPr anchor="ctr">
            <a:noAutofit/>
          </a:bodyPr>
          <a:lstStyle/>
          <a:p>
            <a:pPr>
              <a:defRPr sz="2400" b="1">
                <a:solidFill>
                  <a:srgbClr val="3A2922"/>
                </a:solidFill>
                <a:latin typeface="Arial"/>
                <a:ea typeface="Arial"/>
                <a:cs typeface="Arial"/>
              </a:defRPr>
            </a:pPr>
            <a:r>
              <a:rPr sz="2400" b="1">
                <a:solidFill>
                  <a:srgbClr val="3A2922"/>
                </a:solidFill>
                <a:latin typeface="Arial"/>
                <a:ea typeface="Arial"/>
                <a:cs typeface="Arial"/>
              </a:rPr>
              <a:t>Cho đề bám đúng ý học viên vừa sai</a:t>
            </a:r>
          </a:p>
        </p:txBody>
      </p:sp>
      <p:sp>
        <p:nvSpPr>
          <p:cNvPr id="17" name="Hình chữ nhật 16">
            <a:extLst>
              <a:ext uri="{FF2B5EF4-FFF2-40B4-BE49-F238E27FC236}">
                <a16:creationId xmlns:a16="http://schemas.microsoft.com/office/drawing/2014/main" id="{70909BDC-1E25-4C96-82BA-A2C1B88834B3}"/>
              </a:ext>
            </a:extLst>
          </p:cNvPr>
          <p:cNvSpPr>
            <a:spLocks noGrp="1"/>
          </p:cNvSpPr>
          <p:nvPr/>
        </p:nvSpPr>
        <p:spPr>
          <a:xfrm>
            <a:off x="1190625" y="5238750"/>
            <a:ext cx="9715500" cy="419100"/>
          </a:xfrm>
          <a:prstGeom prst="rect">
            <a:avLst/>
          </a:prstGeom>
          <a:noFill/>
          <a:ln w="0">
            <a:noFill/>
          </a:ln>
        </p:spPr>
        <p:txBody>
          <a:bodyPr anchor="ctr">
            <a:noAutofit/>
          </a:bodyPr>
          <a:lstStyle/>
          <a:p>
            <a:pPr>
              <a:defRPr sz="1725" b="0">
                <a:solidFill>
                  <a:srgbClr val="75675C"/>
                </a:solidFill>
                <a:latin typeface="Arial"/>
                <a:ea typeface="Arial"/>
                <a:cs typeface="Arial"/>
              </a:defRPr>
            </a:pPr>
            <a:r>
              <a:rPr sz="1725" b="0">
                <a:solidFill>
                  <a:srgbClr val="75675C"/>
                </a:solidFill>
                <a:latin typeface="Arial"/>
                <a:ea typeface="Arial"/>
                <a:cs typeface="Arial"/>
              </a:rPr>
              <a:t>Hiện sinh theo node, chưa nhắm đúng lá bị sai nên kết luận “nền ổn” còn dấu hỏi.</a:t>
            </a:r>
          </a:p>
        </p:txBody>
      </p:sp>
      <p:sp>
        <p:nvSpPr>
          <p:cNvPr id="18" name="Hình chữ nhật 17">
            <a:extLst>
              <a:ext uri="{FF2B5EF4-FFF2-40B4-BE49-F238E27FC236}">
                <a16:creationId xmlns:a16="http://schemas.microsoft.com/office/drawing/2014/main" id="{26F3A958-3160-4FF5-8033-1ADF4F40558B}"/>
              </a:ext>
            </a:extLst>
          </p:cNvPr>
          <p:cNvSpPr>
            <a:spLocks noGrp="1"/>
          </p:cNvSpPr>
          <p:nvPr/>
        </p:nvSpPr>
        <p:spPr>
          <a:xfrm>
            <a:off x="533400" y="5886450"/>
            <a:ext cx="10953750" cy="371475"/>
          </a:xfrm>
          <a:prstGeom prst="rect">
            <a:avLst/>
          </a:prstGeom>
          <a:noFill/>
          <a:ln w="0">
            <a:noFill/>
          </a:ln>
        </p:spPr>
        <p:txBody>
          <a:bodyPr anchor="ctr">
            <a:noAutofit/>
          </a:bodyPr>
          <a:lstStyle/>
          <a:p>
            <a:pPr>
              <a:defRPr sz="1650" b="1">
                <a:solidFill>
                  <a:srgbClr val="216C6D"/>
                </a:solidFill>
                <a:latin typeface="Arial"/>
                <a:ea typeface="Arial"/>
                <a:cs typeface="Arial"/>
              </a:defRPr>
            </a:pPr>
            <a:r>
              <a:rPr sz="1650" b="1">
                <a:solidFill>
                  <a:srgbClr val="216C6D"/>
                </a:solidFill>
                <a:latin typeface="Arial"/>
                <a:ea typeface="Arial"/>
                <a:cs typeface="Arial"/>
              </a:rPr>
              <a:t>Bài học: chỉ ra đúng chỗ học lại cần bằng chứng từ cả lỗi quiz lẫn nguyên văn tài liệu nguồn.</a:t>
            </a:r>
          </a:p>
        </p:txBody>
      </p:sp>
    </p:spTree>
    <p:extLst>
      <p:ext uri="{BB962C8B-B14F-4D97-AF65-F5344CB8AC3E}">
        <p14:creationId xmlns:p14="http://schemas.microsoft.com/office/powerpoint/2010/main" val="50191033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1453</Words>
  <Application>Microsoft Office PowerPoint</Application>
  <DocSecurity>0</DocSecurity>
  <PresentationFormat>Màn hình rộng</PresentationFormat>
  <Paragraphs>79</Paragraphs>
  <Slides>6</Slides>
  <Notes>6</Notes>
  <HiddenSlides>0</HiddenSlides>
  <MMClips>0</MMClips>
  <ScaleCrop>false</ScaleCrop>
  <HeadingPairs>
    <vt:vector size="6" baseType="variant">
      <vt:variant>
        <vt:lpstr>Phông được Dùng</vt:lpstr>
      </vt:variant>
      <vt:variant>
        <vt:i4>2</vt:i4>
      </vt:variant>
      <vt:variant>
        <vt:lpstr>Chủ đề</vt:lpstr>
      </vt:variant>
      <vt:variant>
        <vt:i4>1</vt:i4>
      </vt:variant>
      <vt:variant>
        <vt:lpstr>Tiêu đề Bản chiếu</vt:lpstr>
      </vt:variant>
      <vt:variant>
        <vt:i4>6</vt:i4>
      </vt:variant>
    </vt:vector>
  </HeadingPairs>
  <TitlesOfParts>
    <vt:vector size="9" baseType="lpstr">
      <vt:lpstr>Arial</vt:lpstr>
      <vt:lpstr>Calibri</vt:lpstr>
      <vt:lpstr>ChatGPT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LÊ ANH DUY</cp:lastModifiedBy>
  <cp:revision>1</cp:revision>
  <dcterms:created xsi:type="dcterms:W3CDTF">2026-09-18T13:18:51Z</dcterms:created>
  <dcterms:modified xsi:type="dcterms:W3CDTF">2026-09-18T13:55:37Z</dcterms:modified>
</cp:coreProperties>
</file>